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Radley" charset="1" panose="00000500000000000000"/>
      <p:regular r:id="rId18"/>
    </p:embeddedFont>
    <p:embeddedFont>
      <p:font typeface="Carlito" charset="1" panose="020F0502020204030204"/>
      <p:regular r:id="rId19"/>
    </p:embeddedFont>
    <p:embeddedFont>
      <p:font typeface="Radley Italics" charset="1" panose="00000500000000000000"/>
      <p:regular r:id="rId20"/>
    </p:embeddedFont>
    <p:embeddedFont>
      <p:font typeface="Carlito Bold" charset="1" panose="020F05020202040302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jpeg" Type="http://schemas.openxmlformats.org/officeDocument/2006/relationships/image"/><Relationship Id="rId4" Target="../media/image8.jpeg" Type="http://schemas.openxmlformats.org/officeDocument/2006/relationships/image"/><Relationship Id="rId5" Target="../media/image9.jpeg" Type="http://schemas.openxmlformats.org/officeDocument/2006/relationships/image"/><Relationship Id="rId6" Target="../media/image10.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1F3D"/>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0273861" y="1664392"/>
            <a:ext cx="7112877" cy="7112877"/>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5715000" y="6350000"/>
                  </a:moveTo>
                  <a:lnTo>
                    <a:pt x="635000" y="6350000"/>
                  </a:lnTo>
                  <a:cubicBezTo>
                    <a:pt x="284480" y="6350000"/>
                    <a:pt x="0" y="6065520"/>
                    <a:pt x="0" y="5715000"/>
                  </a:cubicBezTo>
                  <a:lnTo>
                    <a:pt x="0" y="635000"/>
                  </a:lnTo>
                  <a:cubicBezTo>
                    <a:pt x="0" y="284480"/>
                    <a:pt x="284480" y="0"/>
                    <a:pt x="635000" y="0"/>
                  </a:cubicBezTo>
                  <a:lnTo>
                    <a:pt x="5715000" y="0"/>
                  </a:lnTo>
                  <a:cubicBezTo>
                    <a:pt x="6065520" y="0"/>
                    <a:pt x="6350000" y="284480"/>
                    <a:pt x="6350000" y="635000"/>
                  </a:cubicBezTo>
                  <a:lnTo>
                    <a:pt x="6350000" y="5715000"/>
                  </a:lnTo>
                  <a:cubicBezTo>
                    <a:pt x="6350000" y="6065520"/>
                    <a:pt x="6065520" y="6350000"/>
                    <a:pt x="5715000" y="6350000"/>
                  </a:cubicBezTo>
                  <a:close/>
                </a:path>
              </a:pathLst>
            </a:custGeom>
            <a:blipFill>
              <a:blip r:embed="rId2"/>
              <a:stretch>
                <a:fillRect l="-10150" t="0" r="-10150" b="0"/>
              </a:stretch>
            </a:blipFill>
          </p:spPr>
        </p:sp>
        <p:sp>
          <p:nvSpPr>
            <p:cNvPr name="Freeform 4" id="4"/>
            <p:cNvSpPr/>
            <p:nvPr/>
          </p:nvSpPr>
          <p:spPr>
            <a:xfrm flipH="false" flipV="false" rot="0">
              <a:off x="0" y="0"/>
              <a:ext cx="6350000" cy="6350000"/>
            </a:xfrm>
            <a:custGeom>
              <a:avLst/>
              <a:gdLst/>
              <a:ahLst/>
              <a:cxnLst/>
              <a:rect r="r" b="b" t="t" l="l"/>
              <a:pathLst>
                <a:path h="6350000" w="6350000">
                  <a:moveTo>
                    <a:pt x="5715000" y="19050"/>
                  </a:moveTo>
                  <a:cubicBezTo>
                    <a:pt x="6054090" y="19050"/>
                    <a:pt x="6330950" y="295910"/>
                    <a:pt x="6330950" y="635000"/>
                  </a:cubicBezTo>
                  <a:lnTo>
                    <a:pt x="6330950" y="5715000"/>
                  </a:lnTo>
                  <a:cubicBezTo>
                    <a:pt x="6330950" y="6054090"/>
                    <a:pt x="6054090" y="6330950"/>
                    <a:pt x="5715000" y="6330950"/>
                  </a:cubicBezTo>
                  <a:lnTo>
                    <a:pt x="635000" y="6330950"/>
                  </a:lnTo>
                  <a:cubicBezTo>
                    <a:pt x="295910" y="6330950"/>
                    <a:pt x="19050" y="6054090"/>
                    <a:pt x="19050" y="5715000"/>
                  </a:cubicBezTo>
                  <a:lnTo>
                    <a:pt x="19050" y="635000"/>
                  </a:lnTo>
                  <a:cubicBezTo>
                    <a:pt x="19050" y="295910"/>
                    <a:pt x="295910" y="19050"/>
                    <a:pt x="635000" y="19050"/>
                  </a:cubicBezTo>
                  <a:lnTo>
                    <a:pt x="5715000" y="19050"/>
                  </a:lnTo>
                  <a:moveTo>
                    <a:pt x="5715000" y="0"/>
                  </a:moveTo>
                  <a:lnTo>
                    <a:pt x="635000" y="0"/>
                  </a:lnTo>
                  <a:cubicBezTo>
                    <a:pt x="284480" y="0"/>
                    <a:pt x="0" y="284480"/>
                    <a:pt x="0" y="635000"/>
                  </a:cubicBezTo>
                  <a:lnTo>
                    <a:pt x="0" y="5715000"/>
                  </a:lnTo>
                  <a:cubicBezTo>
                    <a:pt x="0" y="6065520"/>
                    <a:pt x="284480" y="6350000"/>
                    <a:pt x="635000" y="6350000"/>
                  </a:cubicBezTo>
                  <a:lnTo>
                    <a:pt x="5715000" y="6350000"/>
                  </a:lnTo>
                  <a:cubicBezTo>
                    <a:pt x="6065520" y="6350000"/>
                    <a:pt x="6350000" y="6065520"/>
                    <a:pt x="6350000" y="5715000"/>
                  </a:cubicBezTo>
                  <a:lnTo>
                    <a:pt x="6350000" y="635000"/>
                  </a:lnTo>
                  <a:cubicBezTo>
                    <a:pt x="6350000" y="284480"/>
                    <a:pt x="6065520" y="0"/>
                    <a:pt x="5715000" y="0"/>
                  </a:cubicBezTo>
                  <a:lnTo>
                    <a:pt x="5715000" y="0"/>
                  </a:lnTo>
                  <a:close/>
                </a:path>
              </a:pathLst>
            </a:custGeom>
            <a:solidFill>
              <a:srgbClr val="F8DCBF"/>
            </a:solidFill>
          </p:spPr>
        </p:sp>
      </p:grpSp>
      <p:sp>
        <p:nvSpPr>
          <p:cNvPr name="AutoShape 5" id="5"/>
          <p:cNvSpPr/>
          <p:nvPr/>
        </p:nvSpPr>
        <p:spPr>
          <a:xfrm>
            <a:off x="1351101" y="8767745"/>
            <a:ext cx="7869099" cy="0"/>
          </a:xfrm>
          <a:prstGeom prst="line">
            <a:avLst/>
          </a:prstGeom>
          <a:ln cap="flat" w="19050">
            <a:solidFill>
              <a:srgbClr val="F8DCBF"/>
            </a:solidFill>
            <a:prstDash val="solid"/>
            <a:headEnd type="none" len="sm" w="sm"/>
            <a:tailEnd type="none" len="sm" w="sm"/>
          </a:ln>
        </p:spPr>
      </p:sp>
      <p:sp>
        <p:nvSpPr>
          <p:cNvPr name="TextBox 6" id="6"/>
          <p:cNvSpPr txBox="true"/>
          <p:nvPr/>
        </p:nvSpPr>
        <p:spPr>
          <a:xfrm rot="0">
            <a:off x="1384300" y="4910301"/>
            <a:ext cx="7999490" cy="3620453"/>
          </a:xfrm>
          <a:prstGeom prst="rect">
            <a:avLst/>
          </a:prstGeom>
        </p:spPr>
        <p:txBody>
          <a:bodyPr anchor="t" rtlCol="false" tIns="0" lIns="0" bIns="0" rIns="0">
            <a:spAutoFit/>
          </a:bodyPr>
          <a:lstStyle/>
          <a:p>
            <a:pPr algn="l" marL="0" indent="0" lvl="0">
              <a:lnSpc>
                <a:spcPts val="9247"/>
              </a:lnSpc>
              <a:spcBef>
                <a:spcPct val="0"/>
              </a:spcBef>
            </a:pPr>
            <a:r>
              <a:rPr lang="en-US" sz="10275" spc="-205" strike="noStrike" u="none">
                <a:solidFill>
                  <a:srgbClr val="F8DCBF"/>
                </a:solidFill>
                <a:latin typeface="Radley"/>
                <a:ea typeface="Radley"/>
                <a:cs typeface="Radley"/>
                <a:sym typeface="Radley"/>
              </a:rPr>
              <a:t>Hospital Insight Dashboard</a:t>
            </a:r>
          </a:p>
        </p:txBody>
      </p:sp>
      <p:sp>
        <p:nvSpPr>
          <p:cNvPr name="TextBox 7" id="7"/>
          <p:cNvSpPr txBox="true"/>
          <p:nvPr/>
        </p:nvSpPr>
        <p:spPr>
          <a:xfrm rot="0">
            <a:off x="13611225" y="9275446"/>
            <a:ext cx="4010025" cy="344804"/>
          </a:xfrm>
          <a:prstGeom prst="rect">
            <a:avLst/>
          </a:prstGeom>
        </p:spPr>
        <p:txBody>
          <a:bodyPr anchor="t" rtlCol="false" tIns="0" lIns="0" bIns="0" rIns="0">
            <a:spAutoFit/>
          </a:bodyPr>
          <a:lstStyle/>
          <a:p>
            <a:pPr algn="r" marL="0" indent="0" lvl="0">
              <a:lnSpc>
                <a:spcPts val="2520"/>
              </a:lnSpc>
              <a:spcBef>
                <a:spcPct val="0"/>
              </a:spcBef>
            </a:pPr>
            <a:r>
              <a:rPr lang="en-US" sz="1800" spc="239">
                <a:solidFill>
                  <a:srgbClr val="F8DCBF"/>
                </a:solidFill>
                <a:latin typeface="Carlito"/>
                <a:ea typeface="Carlito"/>
                <a:cs typeface="Carlito"/>
                <a:sym typeface="Carlito"/>
              </a:rPr>
              <a:t>BUSINESS ANALYST</a:t>
            </a:r>
          </a:p>
        </p:txBody>
      </p:sp>
      <p:sp>
        <p:nvSpPr>
          <p:cNvPr name="TextBox 8" id="8"/>
          <p:cNvSpPr txBox="true"/>
          <p:nvPr/>
        </p:nvSpPr>
        <p:spPr>
          <a:xfrm rot="0">
            <a:off x="666750" y="9323705"/>
            <a:ext cx="4010025" cy="296545"/>
          </a:xfrm>
          <a:prstGeom prst="rect">
            <a:avLst/>
          </a:prstGeom>
        </p:spPr>
        <p:txBody>
          <a:bodyPr anchor="t" rtlCol="false" tIns="0" lIns="0" bIns="0" rIns="0">
            <a:spAutoFit/>
          </a:bodyPr>
          <a:lstStyle/>
          <a:p>
            <a:pPr algn="l" marL="0" indent="0" lvl="0">
              <a:lnSpc>
                <a:spcPts val="2299"/>
              </a:lnSpc>
            </a:pPr>
            <a:r>
              <a:rPr lang="en-US" sz="2299" i="true">
                <a:solidFill>
                  <a:srgbClr val="F8DCBF"/>
                </a:solidFill>
                <a:latin typeface="Radley Italics"/>
                <a:ea typeface="Radley Italics"/>
                <a:cs typeface="Radley Italics"/>
                <a:sym typeface="Radley Italics"/>
              </a:rPr>
              <a:t>Shivam Kumar Thakur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1F3D"/>
        </a:solidFill>
      </p:bgPr>
    </p:bg>
    <p:spTree>
      <p:nvGrpSpPr>
        <p:cNvPr id="1" name=""/>
        <p:cNvGrpSpPr/>
        <p:nvPr/>
      </p:nvGrpSpPr>
      <p:grpSpPr>
        <a:xfrm>
          <a:off x="0" y="0"/>
          <a:ext cx="0" cy="0"/>
          <a:chOff x="0" y="0"/>
          <a:chExt cx="0" cy="0"/>
        </a:xfrm>
      </p:grpSpPr>
      <p:grpSp>
        <p:nvGrpSpPr>
          <p:cNvPr name="Group 2" id="2"/>
          <p:cNvGrpSpPr/>
          <p:nvPr/>
        </p:nvGrpSpPr>
        <p:grpSpPr>
          <a:xfrm rot="0">
            <a:off x="10429875" y="0"/>
            <a:ext cx="7858125" cy="10287000"/>
            <a:chOff x="0" y="0"/>
            <a:chExt cx="1217429" cy="1593725"/>
          </a:xfrm>
        </p:grpSpPr>
        <p:sp>
          <p:nvSpPr>
            <p:cNvPr name="Freeform 3" id="3"/>
            <p:cNvSpPr/>
            <p:nvPr/>
          </p:nvSpPr>
          <p:spPr>
            <a:xfrm flipH="false" flipV="false" rot="0">
              <a:off x="0" y="0"/>
              <a:ext cx="1217429" cy="1593725"/>
            </a:xfrm>
            <a:custGeom>
              <a:avLst/>
              <a:gdLst/>
              <a:ahLst/>
              <a:cxnLst/>
              <a:rect r="r" b="b" t="t" l="l"/>
              <a:pathLst>
                <a:path h="1593725" w="1217429">
                  <a:moveTo>
                    <a:pt x="0" y="0"/>
                  </a:moveTo>
                  <a:lnTo>
                    <a:pt x="1217429" y="0"/>
                  </a:lnTo>
                  <a:lnTo>
                    <a:pt x="1217429" y="1593725"/>
                  </a:lnTo>
                  <a:lnTo>
                    <a:pt x="0" y="1593725"/>
                  </a:lnTo>
                  <a:close/>
                </a:path>
              </a:pathLst>
            </a:custGeom>
            <a:blipFill>
              <a:blip r:embed="rId2"/>
              <a:stretch>
                <a:fillRect l="0" t="-421" r="0" b="-421"/>
              </a:stretch>
            </a:blipFill>
          </p:spPr>
        </p:sp>
      </p:grpSp>
      <p:grpSp>
        <p:nvGrpSpPr>
          <p:cNvPr name="Group 4" id="4"/>
          <p:cNvGrpSpPr/>
          <p:nvPr/>
        </p:nvGrpSpPr>
        <p:grpSpPr>
          <a:xfrm rot="0">
            <a:off x="666750" y="666755"/>
            <a:ext cx="7230865" cy="6219825"/>
            <a:chOff x="0" y="0"/>
            <a:chExt cx="9641153" cy="8293100"/>
          </a:xfrm>
        </p:grpSpPr>
        <p:sp>
          <p:nvSpPr>
            <p:cNvPr name="TextBox 5" id="5"/>
            <p:cNvSpPr txBox="true"/>
            <p:nvPr/>
          </p:nvSpPr>
          <p:spPr>
            <a:xfrm rot="0">
              <a:off x="26326" y="57150"/>
              <a:ext cx="9614826" cy="2679279"/>
            </a:xfrm>
            <a:prstGeom prst="rect">
              <a:avLst/>
            </a:prstGeom>
          </p:spPr>
          <p:txBody>
            <a:bodyPr anchor="t" rtlCol="false" tIns="0" lIns="0" bIns="0" rIns="0">
              <a:spAutoFit/>
            </a:bodyPr>
            <a:lstStyle/>
            <a:p>
              <a:pPr algn="l" marL="0" indent="0" lvl="0">
                <a:lnSpc>
                  <a:spcPts val="7840"/>
                </a:lnSpc>
                <a:spcBef>
                  <a:spcPct val="0"/>
                </a:spcBef>
              </a:pPr>
              <a:r>
                <a:rPr lang="en-US" sz="7000" i="true">
                  <a:solidFill>
                    <a:srgbClr val="F8DCBF"/>
                  </a:solidFill>
                  <a:latin typeface="Radley Italics"/>
                  <a:ea typeface="Radley Italics"/>
                  <a:cs typeface="Radley Italics"/>
                  <a:sym typeface="Radley Italics"/>
                </a:rPr>
                <a:t>Executive Overview</a:t>
              </a:r>
            </a:p>
          </p:txBody>
        </p:sp>
        <p:sp>
          <p:nvSpPr>
            <p:cNvPr name="TextBox 6" id="6"/>
            <p:cNvSpPr txBox="true"/>
            <p:nvPr/>
          </p:nvSpPr>
          <p:spPr>
            <a:xfrm rot="0">
              <a:off x="26326" y="3708400"/>
              <a:ext cx="9614826" cy="1397000"/>
            </a:xfrm>
            <a:prstGeom prst="rect">
              <a:avLst/>
            </a:prstGeom>
          </p:spPr>
          <p:txBody>
            <a:bodyPr anchor="t" rtlCol="false" tIns="0" lIns="0" bIns="0" rIns="0">
              <a:spAutoFit/>
            </a:bodyPr>
            <a:lstStyle/>
            <a:p>
              <a:pPr algn="l" marL="0" indent="0" lvl="0">
                <a:lnSpc>
                  <a:spcPts val="4199"/>
                </a:lnSpc>
                <a:spcBef>
                  <a:spcPct val="0"/>
                </a:spcBef>
              </a:pPr>
              <a:r>
                <a:rPr lang="en-US" sz="3499" u="none">
                  <a:solidFill>
                    <a:srgbClr val="F8DCBF"/>
                  </a:solidFill>
                  <a:latin typeface="Radley"/>
                  <a:ea typeface="Radley"/>
                  <a:cs typeface="Radley"/>
                  <a:sym typeface="Radley"/>
                </a:rPr>
                <a:t>High-Level Summary of Dashboard Scope and Insights</a:t>
              </a:r>
            </a:p>
          </p:txBody>
        </p:sp>
        <p:sp>
          <p:nvSpPr>
            <p:cNvPr name="AutoShape 7" id="7"/>
            <p:cNvSpPr/>
            <p:nvPr/>
          </p:nvSpPr>
          <p:spPr>
            <a:xfrm>
              <a:off x="0" y="3222414"/>
              <a:ext cx="9614826" cy="0"/>
            </a:xfrm>
            <a:prstGeom prst="line">
              <a:avLst/>
            </a:prstGeom>
            <a:ln cap="flat" w="25400">
              <a:solidFill>
                <a:srgbClr val="F8DCBF"/>
              </a:solidFill>
              <a:prstDash val="solid"/>
              <a:headEnd type="none" len="sm" w="sm"/>
              <a:tailEnd type="none" len="sm" w="sm"/>
            </a:ln>
          </p:spPr>
        </p:sp>
        <p:sp>
          <p:nvSpPr>
            <p:cNvPr name="TextBox 8" id="8"/>
            <p:cNvSpPr txBox="true"/>
            <p:nvPr/>
          </p:nvSpPr>
          <p:spPr>
            <a:xfrm rot="0">
              <a:off x="26326" y="5730875"/>
              <a:ext cx="9588500" cy="2562225"/>
            </a:xfrm>
            <a:prstGeom prst="rect">
              <a:avLst/>
            </a:prstGeom>
          </p:spPr>
          <p:txBody>
            <a:bodyPr anchor="t" rtlCol="false" tIns="0" lIns="0" bIns="0" rIns="0">
              <a:spAutoFit/>
            </a:bodyPr>
            <a:lstStyle/>
            <a:p>
              <a:pPr algn="l" marL="0" indent="0" lvl="0">
                <a:lnSpc>
                  <a:spcPts val="2520"/>
                </a:lnSpc>
              </a:pPr>
              <a:r>
                <a:rPr lang="en-US" sz="2100">
                  <a:solidFill>
                    <a:srgbClr val="F8DCBF"/>
                  </a:solidFill>
                  <a:latin typeface="Carlito"/>
                  <a:ea typeface="Carlito"/>
                  <a:cs typeface="Carlito"/>
                  <a:sym typeface="Carlito"/>
                </a:rPr>
                <a:t>The Hospital Insight Dashboard encompasses data from </a:t>
              </a:r>
              <a:r>
                <a:rPr lang="en-US" b="true" sz="2100">
                  <a:solidFill>
                    <a:srgbClr val="F8DCBF"/>
                  </a:solidFill>
                  <a:latin typeface="Carlito Bold"/>
                  <a:ea typeface="Carlito Bold"/>
                  <a:cs typeface="Carlito Bold"/>
                  <a:sym typeface="Carlito Bold"/>
                </a:rPr>
                <a:t>1,000 patients</a:t>
              </a:r>
              <a:r>
                <a:rPr lang="en-US" sz="2100">
                  <a:solidFill>
                    <a:srgbClr val="F8DCBF"/>
                  </a:solidFill>
                  <a:latin typeface="Carlito"/>
                  <a:ea typeface="Carlito"/>
                  <a:cs typeface="Carlito"/>
                  <a:sym typeface="Carlito"/>
                </a:rPr>
                <a:t>, offering an extensive analysis of costs, demographics, diagnoses, treatments, and recovery outcomes. The key takeaway highlights moderate recovery rates (Avg. 5.44) and the potential for optimization through cost variation analysis. This presents an opportunity for enhancing healthcare delivery.</a:t>
              </a:r>
            </a:p>
          </p:txBody>
        </p:sp>
      </p:grpSp>
    </p:spTree>
  </p:cSld>
  <p:clrMapOvr>
    <a:masterClrMapping/>
  </p:clrMapOvr>
</p:sld>
</file>

<file path=ppt/slides/slide3.xml><?xml version="1.0" encoding="utf-8"?>
<p:sld xmlns:p="http://schemas.openxmlformats.org/presentationml/2006/main" xmlns:a="http://schemas.openxmlformats.org/drawingml/2006/main">
  <p:cSld>
    <p:bg>
      <p:bgPr>
        <a:solidFill>
          <a:srgbClr val="001F3D"/>
        </a:solidFill>
      </p:bgPr>
    </p:bg>
    <p:spTree>
      <p:nvGrpSpPr>
        <p:cNvPr id="1" name=""/>
        <p:cNvGrpSpPr/>
        <p:nvPr/>
      </p:nvGrpSpPr>
      <p:grpSpPr>
        <a:xfrm>
          <a:off x="0" y="0"/>
          <a:ext cx="0" cy="0"/>
          <a:chOff x="0" y="0"/>
          <a:chExt cx="0" cy="0"/>
        </a:xfrm>
      </p:grpSpPr>
      <p:grpSp>
        <p:nvGrpSpPr>
          <p:cNvPr name="Group 2" id="2"/>
          <p:cNvGrpSpPr/>
          <p:nvPr/>
        </p:nvGrpSpPr>
        <p:grpSpPr>
          <a:xfrm rot="0">
            <a:off x="3543300" y="1562127"/>
            <a:ext cx="11201400" cy="2066938"/>
            <a:chOff x="0" y="0"/>
            <a:chExt cx="14935200" cy="2755917"/>
          </a:xfrm>
        </p:grpSpPr>
        <p:sp>
          <p:nvSpPr>
            <p:cNvPr name="AutoShape 3" id="3"/>
            <p:cNvSpPr/>
            <p:nvPr/>
          </p:nvSpPr>
          <p:spPr>
            <a:xfrm flipH="true">
              <a:off x="4892198" y="1651034"/>
              <a:ext cx="5150805" cy="0"/>
            </a:xfrm>
            <a:prstGeom prst="line">
              <a:avLst/>
            </a:prstGeom>
            <a:ln cap="flat" w="25400">
              <a:solidFill>
                <a:srgbClr val="F8DCBF"/>
              </a:solidFill>
              <a:prstDash val="solid"/>
              <a:headEnd type="none" len="sm" w="sm"/>
              <a:tailEnd type="none" len="sm" w="sm"/>
            </a:ln>
          </p:spPr>
        </p:sp>
        <p:sp>
          <p:nvSpPr>
            <p:cNvPr name="TextBox 4" id="4"/>
            <p:cNvSpPr txBox="true"/>
            <p:nvPr/>
          </p:nvSpPr>
          <p:spPr>
            <a:xfrm rot="0">
              <a:off x="0" y="-66675"/>
              <a:ext cx="14935200" cy="1285875"/>
            </a:xfrm>
            <a:prstGeom prst="rect">
              <a:avLst/>
            </a:prstGeom>
          </p:spPr>
          <p:txBody>
            <a:bodyPr anchor="t" rtlCol="false" tIns="0" lIns="0" bIns="0" rIns="0">
              <a:spAutoFit/>
            </a:bodyPr>
            <a:lstStyle/>
            <a:p>
              <a:pPr algn="ctr" marL="0" indent="0" lvl="0">
                <a:lnSpc>
                  <a:spcPts val="6600"/>
                </a:lnSpc>
              </a:pPr>
              <a:r>
                <a:rPr lang="en-US" sz="6000">
                  <a:solidFill>
                    <a:srgbClr val="F8DCBF"/>
                  </a:solidFill>
                  <a:latin typeface="Carlito"/>
                  <a:ea typeface="Carlito"/>
                  <a:cs typeface="Carlito"/>
                  <a:sym typeface="Carlito"/>
                </a:rPr>
                <a:t>$9.44M</a:t>
              </a:r>
            </a:p>
          </p:txBody>
        </p:sp>
        <p:sp>
          <p:nvSpPr>
            <p:cNvPr name="TextBox 5" id="5"/>
            <p:cNvSpPr txBox="true"/>
            <p:nvPr/>
          </p:nvSpPr>
          <p:spPr>
            <a:xfrm rot="0">
              <a:off x="0" y="2035192"/>
              <a:ext cx="14935200" cy="720725"/>
            </a:xfrm>
            <a:prstGeom prst="rect">
              <a:avLst/>
            </a:prstGeom>
          </p:spPr>
          <p:txBody>
            <a:bodyPr anchor="t" rtlCol="false" tIns="0" lIns="0" bIns="0" rIns="0">
              <a:spAutoFit/>
            </a:bodyPr>
            <a:lstStyle/>
            <a:p>
              <a:pPr algn="ctr" marL="0" indent="0" lvl="0">
                <a:lnSpc>
                  <a:spcPts val="4200"/>
                </a:lnSpc>
                <a:spcBef>
                  <a:spcPct val="0"/>
                </a:spcBef>
              </a:pPr>
              <a:r>
                <a:rPr lang="en-US" sz="3500" strike="noStrike" u="none">
                  <a:solidFill>
                    <a:srgbClr val="F8DCBF"/>
                  </a:solidFill>
                  <a:latin typeface="Radley"/>
                  <a:ea typeface="Radley"/>
                  <a:cs typeface="Radley"/>
                  <a:sym typeface="Radley"/>
                </a:rPr>
                <a:t>Total Cost to Hospital</a:t>
              </a:r>
            </a:p>
          </p:txBody>
        </p:sp>
      </p:grpSp>
      <p:grpSp>
        <p:nvGrpSpPr>
          <p:cNvPr name="Group 6" id="6"/>
          <p:cNvGrpSpPr/>
          <p:nvPr/>
        </p:nvGrpSpPr>
        <p:grpSpPr>
          <a:xfrm rot="0">
            <a:off x="3543300" y="4248238"/>
            <a:ext cx="11201400" cy="2066938"/>
            <a:chOff x="0" y="0"/>
            <a:chExt cx="14935200" cy="2755917"/>
          </a:xfrm>
        </p:grpSpPr>
        <p:sp>
          <p:nvSpPr>
            <p:cNvPr name="AutoShape 7" id="7"/>
            <p:cNvSpPr/>
            <p:nvPr/>
          </p:nvSpPr>
          <p:spPr>
            <a:xfrm flipH="true">
              <a:off x="4892198" y="1651034"/>
              <a:ext cx="5150805" cy="0"/>
            </a:xfrm>
            <a:prstGeom prst="line">
              <a:avLst/>
            </a:prstGeom>
            <a:ln cap="flat" w="25400">
              <a:solidFill>
                <a:srgbClr val="F8DCBF"/>
              </a:solidFill>
              <a:prstDash val="solid"/>
              <a:headEnd type="none" len="sm" w="sm"/>
              <a:tailEnd type="none" len="sm" w="sm"/>
            </a:ln>
          </p:spPr>
        </p:sp>
        <p:sp>
          <p:nvSpPr>
            <p:cNvPr name="TextBox 8" id="8"/>
            <p:cNvSpPr txBox="true"/>
            <p:nvPr/>
          </p:nvSpPr>
          <p:spPr>
            <a:xfrm rot="0">
              <a:off x="0" y="-66675"/>
              <a:ext cx="14935200" cy="1285875"/>
            </a:xfrm>
            <a:prstGeom prst="rect">
              <a:avLst/>
            </a:prstGeom>
          </p:spPr>
          <p:txBody>
            <a:bodyPr anchor="t" rtlCol="false" tIns="0" lIns="0" bIns="0" rIns="0">
              <a:spAutoFit/>
            </a:bodyPr>
            <a:lstStyle/>
            <a:p>
              <a:pPr algn="ctr" marL="0" indent="0" lvl="0">
                <a:lnSpc>
                  <a:spcPts val="6600"/>
                </a:lnSpc>
                <a:spcBef>
                  <a:spcPct val="0"/>
                </a:spcBef>
              </a:pPr>
              <a:r>
                <a:rPr lang="en-US" sz="6000" strike="noStrike" u="none">
                  <a:solidFill>
                    <a:srgbClr val="F8DCBF"/>
                  </a:solidFill>
                  <a:latin typeface="Carlito"/>
                  <a:ea typeface="Carlito"/>
                  <a:cs typeface="Carlito"/>
                  <a:sym typeface="Carlito"/>
                </a:rPr>
                <a:t>5.44</a:t>
              </a:r>
            </a:p>
          </p:txBody>
        </p:sp>
        <p:sp>
          <p:nvSpPr>
            <p:cNvPr name="TextBox 9" id="9"/>
            <p:cNvSpPr txBox="true"/>
            <p:nvPr/>
          </p:nvSpPr>
          <p:spPr>
            <a:xfrm rot="0">
              <a:off x="0" y="2035192"/>
              <a:ext cx="14935200" cy="720725"/>
            </a:xfrm>
            <a:prstGeom prst="rect">
              <a:avLst/>
            </a:prstGeom>
          </p:spPr>
          <p:txBody>
            <a:bodyPr anchor="t" rtlCol="false" tIns="0" lIns="0" bIns="0" rIns="0">
              <a:spAutoFit/>
            </a:bodyPr>
            <a:lstStyle/>
            <a:p>
              <a:pPr algn="ctr" marL="0" indent="0" lvl="0">
                <a:lnSpc>
                  <a:spcPts val="4200"/>
                </a:lnSpc>
                <a:spcBef>
                  <a:spcPct val="0"/>
                </a:spcBef>
              </a:pPr>
              <a:r>
                <a:rPr lang="en-US" sz="3500" strike="noStrike" u="none">
                  <a:solidFill>
                    <a:srgbClr val="F8DCBF"/>
                  </a:solidFill>
                  <a:latin typeface="Radley"/>
                  <a:ea typeface="Radley"/>
                  <a:cs typeface="Radley"/>
                  <a:sym typeface="Radley"/>
                </a:rPr>
                <a:t>Average Recovery Rating</a:t>
              </a:r>
            </a:p>
          </p:txBody>
        </p:sp>
      </p:grpSp>
      <p:grpSp>
        <p:nvGrpSpPr>
          <p:cNvPr name="Group 10" id="10"/>
          <p:cNvGrpSpPr/>
          <p:nvPr/>
        </p:nvGrpSpPr>
        <p:grpSpPr>
          <a:xfrm rot="0">
            <a:off x="3543300" y="6934288"/>
            <a:ext cx="11201400" cy="2066938"/>
            <a:chOff x="0" y="0"/>
            <a:chExt cx="14935200" cy="2755917"/>
          </a:xfrm>
        </p:grpSpPr>
        <p:sp>
          <p:nvSpPr>
            <p:cNvPr name="AutoShape 11" id="11"/>
            <p:cNvSpPr/>
            <p:nvPr/>
          </p:nvSpPr>
          <p:spPr>
            <a:xfrm flipH="true">
              <a:off x="4892198" y="1651034"/>
              <a:ext cx="5150805" cy="0"/>
            </a:xfrm>
            <a:prstGeom prst="line">
              <a:avLst/>
            </a:prstGeom>
            <a:ln cap="flat" w="25400">
              <a:solidFill>
                <a:srgbClr val="F8DCBF"/>
              </a:solidFill>
              <a:prstDash val="solid"/>
              <a:headEnd type="none" len="sm" w="sm"/>
              <a:tailEnd type="none" len="sm" w="sm"/>
            </a:ln>
          </p:spPr>
        </p:sp>
        <p:sp>
          <p:nvSpPr>
            <p:cNvPr name="TextBox 12" id="12"/>
            <p:cNvSpPr txBox="true"/>
            <p:nvPr/>
          </p:nvSpPr>
          <p:spPr>
            <a:xfrm rot="0">
              <a:off x="0" y="-66675"/>
              <a:ext cx="14935200" cy="1285875"/>
            </a:xfrm>
            <a:prstGeom prst="rect">
              <a:avLst/>
            </a:prstGeom>
          </p:spPr>
          <p:txBody>
            <a:bodyPr anchor="t" rtlCol="false" tIns="0" lIns="0" bIns="0" rIns="0">
              <a:spAutoFit/>
            </a:bodyPr>
            <a:lstStyle/>
            <a:p>
              <a:pPr algn="ctr" marL="0" indent="0" lvl="0">
                <a:lnSpc>
                  <a:spcPts val="6600"/>
                </a:lnSpc>
                <a:spcBef>
                  <a:spcPct val="0"/>
                </a:spcBef>
              </a:pPr>
              <a:r>
                <a:rPr lang="en-US" sz="6000" strike="noStrike" u="none">
                  <a:solidFill>
                    <a:srgbClr val="F8DCBF"/>
                  </a:solidFill>
                  <a:latin typeface="Carlito"/>
                  <a:ea typeface="Carlito"/>
                  <a:cs typeface="Carlito"/>
                  <a:sym typeface="Carlito"/>
                </a:rPr>
                <a:t>50.5 years</a:t>
              </a:r>
            </a:p>
          </p:txBody>
        </p:sp>
        <p:sp>
          <p:nvSpPr>
            <p:cNvPr name="TextBox 13" id="13"/>
            <p:cNvSpPr txBox="true"/>
            <p:nvPr/>
          </p:nvSpPr>
          <p:spPr>
            <a:xfrm rot="0">
              <a:off x="0" y="2035192"/>
              <a:ext cx="14935200" cy="720725"/>
            </a:xfrm>
            <a:prstGeom prst="rect">
              <a:avLst/>
            </a:prstGeom>
          </p:spPr>
          <p:txBody>
            <a:bodyPr anchor="t" rtlCol="false" tIns="0" lIns="0" bIns="0" rIns="0">
              <a:spAutoFit/>
            </a:bodyPr>
            <a:lstStyle/>
            <a:p>
              <a:pPr algn="ctr" marL="0" indent="0" lvl="0">
                <a:lnSpc>
                  <a:spcPts val="4200"/>
                </a:lnSpc>
                <a:spcBef>
                  <a:spcPct val="0"/>
                </a:spcBef>
              </a:pPr>
              <a:r>
                <a:rPr lang="en-US" sz="3500" strike="noStrike" u="none">
                  <a:solidFill>
                    <a:srgbClr val="F8DCBF"/>
                  </a:solidFill>
                  <a:latin typeface="Radley"/>
                  <a:ea typeface="Radley"/>
                  <a:cs typeface="Radley"/>
                  <a:sym typeface="Radley"/>
                </a:rPr>
                <a:t>Average Patient Age</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1F3D"/>
        </a:solidFill>
      </p:bgPr>
    </p:bg>
    <p:spTree>
      <p:nvGrpSpPr>
        <p:cNvPr id="1" name=""/>
        <p:cNvGrpSpPr/>
        <p:nvPr/>
      </p:nvGrpSpPr>
      <p:grpSpPr>
        <a:xfrm>
          <a:off x="0" y="0"/>
          <a:ext cx="0" cy="0"/>
          <a:chOff x="0" y="0"/>
          <a:chExt cx="0" cy="0"/>
        </a:xfrm>
      </p:grpSpPr>
      <p:grpSp>
        <p:nvGrpSpPr>
          <p:cNvPr name="Group 2" id="2"/>
          <p:cNvGrpSpPr/>
          <p:nvPr/>
        </p:nvGrpSpPr>
        <p:grpSpPr>
          <a:xfrm rot="0">
            <a:off x="10429875" y="0"/>
            <a:ext cx="7858125" cy="10287000"/>
            <a:chOff x="0" y="0"/>
            <a:chExt cx="1217429" cy="1593725"/>
          </a:xfrm>
        </p:grpSpPr>
        <p:sp>
          <p:nvSpPr>
            <p:cNvPr name="Freeform 3" id="3"/>
            <p:cNvSpPr/>
            <p:nvPr/>
          </p:nvSpPr>
          <p:spPr>
            <a:xfrm flipH="false" flipV="false" rot="0">
              <a:off x="0" y="0"/>
              <a:ext cx="1217429" cy="1593725"/>
            </a:xfrm>
            <a:custGeom>
              <a:avLst/>
              <a:gdLst/>
              <a:ahLst/>
              <a:cxnLst/>
              <a:rect r="r" b="b" t="t" l="l"/>
              <a:pathLst>
                <a:path h="1593725" w="1217429">
                  <a:moveTo>
                    <a:pt x="0" y="0"/>
                  </a:moveTo>
                  <a:lnTo>
                    <a:pt x="1217429" y="0"/>
                  </a:lnTo>
                  <a:lnTo>
                    <a:pt x="1217429" y="1593725"/>
                  </a:lnTo>
                  <a:lnTo>
                    <a:pt x="0" y="1593725"/>
                  </a:lnTo>
                  <a:close/>
                </a:path>
              </a:pathLst>
            </a:custGeom>
            <a:blipFill>
              <a:blip r:embed="rId2"/>
              <a:stretch>
                <a:fillRect l="0" t="-421" r="0" b="-421"/>
              </a:stretch>
            </a:blipFill>
          </p:spPr>
        </p:sp>
      </p:grpSp>
      <p:grpSp>
        <p:nvGrpSpPr>
          <p:cNvPr name="Group 4" id="4"/>
          <p:cNvGrpSpPr/>
          <p:nvPr/>
        </p:nvGrpSpPr>
        <p:grpSpPr>
          <a:xfrm rot="0">
            <a:off x="666750" y="666755"/>
            <a:ext cx="7230865" cy="6219825"/>
            <a:chOff x="0" y="0"/>
            <a:chExt cx="9641153" cy="8293100"/>
          </a:xfrm>
        </p:grpSpPr>
        <p:sp>
          <p:nvSpPr>
            <p:cNvPr name="TextBox 5" id="5"/>
            <p:cNvSpPr txBox="true"/>
            <p:nvPr/>
          </p:nvSpPr>
          <p:spPr>
            <a:xfrm rot="0">
              <a:off x="26326" y="57150"/>
              <a:ext cx="9614826" cy="2679279"/>
            </a:xfrm>
            <a:prstGeom prst="rect">
              <a:avLst/>
            </a:prstGeom>
          </p:spPr>
          <p:txBody>
            <a:bodyPr anchor="t" rtlCol="false" tIns="0" lIns="0" bIns="0" rIns="0">
              <a:spAutoFit/>
            </a:bodyPr>
            <a:lstStyle/>
            <a:p>
              <a:pPr algn="l" marL="0" indent="0" lvl="0">
                <a:lnSpc>
                  <a:spcPts val="7840"/>
                </a:lnSpc>
                <a:spcBef>
                  <a:spcPct val="0"/>
                </a:spcBef>
              </a:pPr>
              <a:r>
                <a:rPr lang="en-US" sz="7000" i="true">
                  <a:solidFill>
                    <a:srgbClr val="F8DCBF"/>
                  </a:solidFill>
                  <a:latin typeface="Radley Italics"/>
                  <a:ea typeface="Radley Italics"/>
                  <a:cs typeface="Radley Italics"/>
                  <a:sym typeface="Radley Italics"/>
                </a:rPr>
                <a:t>Patient Demographics</a:t>
              </a:r>
            </a:p>
          </p:txBody>
        </p:sp>
        <p:sp>
          <p:nvSpPr>
            <p:cNvPr name="TextBox 6" id="6"/>
            <p:cNvSpPr txBox="true"/>
            <p:nvPr/>
          </p:nvSpPr>
          <p:spPr>
            <a:xfrm rot="0">
              <a:off x="26326" y="3708400"/>
              <a:ext cx="9614826" cy="1397000"/>
            </a:xfrm>
            <a:prstGeom prst="rect">
              <a:avLst/>
            </a:prstGeom>
          </p:spPr>
          <p:txBody>
            <a:bodyPr anchor="t" rtlCol="false" tIns="0" lIns="0" bIns="0" rIns="0">
              <a:spAutoFit/>
            </a:bodyPr>
            <a:lstStyle/>
            <a:p>
              <a:pPr algn="l" marL="0" indent="0" lvl="0">
                <a:lnSpc>
                  <a:spcPts val="4199"/>
                </a:lnSpc>
                <a:spcBef>
                  <a:spcPct val="0"/>
                </a:spcBef>
              </a:pPr>
              <a:r>
                <a:rPr lang="en-US" sz="3499" u="none">
                  <a:solidFill>
                    <a:srgbClr val="F8DCBF"/>
                  </a:solidFill>
                  <a:latin typeface="Radley"/>
                  <a:ea typeface="Radley"/>
                  <a:cs typeface="Radley"/>
                  <a:sym typeface="Radley"/>
                </a:rPr>
                <a:t>Age Group Breakdown for Better Care Strategies</a:t>
              </a:r>
            </a:p>
          </p:txBody>
        </p:sp>
        <p:sp>
          <p:nvSpPr>
            <p:cNvPr name="AutoShape 7" id="7"/>
            <p:cNvSpPr/>
            <p:nvPr/>
          </p:nvSpPr>
          <p:spPr>
            <a:xfrm>
              <a:off x="0" y="3222414"/>
              <a:ext cx="9614826" cy="0"/>
            </a:xfrm>
            <a:prstGeom prst="line">
              <a:avLst/>
            </a:prstGeom>
            <a:ln cap="flat" w="25400">
              <a:solidFill>
                <a:srgbClr val="F8DCBF"/>
              </a:solidFill>
              <a:prstDash val="solid"/>
              <a:headEnd type="none" len="sm" w="sm"/>
              <a:tailEnd type="none" len="sm" w="sm"/>
            </a:ln>
          </p:spPr>
        </p:sp>
        <p:sp>
          <p:nvSpPr>
            <p:cNvPr name="TextBox 8" id="8"/>
            <p:cNvSpPr txBox="true"/>
            <p:nvPr/>
          </p:nvSpPr>
          <p:spPr>
            <a:xfrm rot="0">
              <a:off x="26326" y="5730875"/>
              <a:ext cx="9588500" cy="2562225"/>
            </a:xfrm>
            <a:prstGeom prst="rect">
              <a:avLst/>
            </a:prstGeom>
          </p:spPr>
          <p:txBody>
            <a:bodyPr anchor="t" rtlCol="false" tIns="0" lIns="0" bIns="0" rIns="0">
              <a:spAutoFit/>
            </a:bodyPr>
            <a:lstStyle/>
            <a:p>
              <a:pPr algn="l" marL="0" indent="0" lvl="0">
                <a:lnSpc>
                  <a:spcPts val="2520"/>
                </a:lnSpc>
              </a:pPr>
              <a:r>
                <a:rPr lang="en-US" sz="2100">
                  <a:solidFill>
                    <a:srgbClr val="F8DCBF"/>
                  </a:solidFill>
                  <a:latin typeface="Carlito"/>
                  <a:ea typeface="Carlito"/>
                  <a:cs typeface="Carlito"/>
                  <a:sym typeface="Carlito"/>
                </a:rPr>
                <a:t>Understanding patient demographics is crucial for effective healthcare delivery. The </a:t>
              </a:r>
              <a:r>
                <a:rPr lang="en-US" b="true" sz="2100">
                  <a:solidFill>
                    <a:srgbClr val="F8DCBF"/>
                  </a:solidFill>
                  <a:latin typeface="Carlito Bold"/>
                  <a:ea typeface="Carlito Bold"/>
                  <a:cs typeface="Carlito Bold"/>
                  <a:sym typeface="Carlito Bold"/>
                </a:rPr>
                <a:t>age distribution</a:t>
              </a:r>
              <a:r>
                <a:rPr lang="en-US" sz="2100">
                  <a:solidFill>
                    <a:srgbClr val="F8DCBF"/>
                  </a:solidFill>
                  <a:latin typeface="Carlito"/>
                  <a:ea typeface="Carlito"/>
                  <a:cs typeface="Carlito"/>
                  <a:sym typeface="Carlito"/>
                </a:rPr>
                <a:t> reveals that 88% of our patients are adults and seniors, indicating a strong </a:t>
              </a:r>
              <a:r>
                <a:rPr lang="en-US" b="true" sz="2100">
                  <a:solidFill>
                    <a:srgbClr val="F8DCBF"/>
                  </a:solidFill>
                  <a:latin typeface="Carlito Bold"/>
                  <a:ea typeface="Carlito Bold"/>
                  <a:cs typeface="Carlito Bold"/>
                  <a:sym typeface="Carlito Bold"/>
                </a:rPr>
                <a:t>need for chronic disease management</a:t>
              </a:r>
              <a:r>
                <a:rPr lang="en-US" sz="2100">
                  <a:solidFill>
                    <a:srgbClr val="F8DCBF"/>
                  </a:solidFill>
                  <a:latin typeface="Carlito"/>
                  <a:ea typeface="Carlito"/>
                  <a:cs typeface="Carlito"/>
                  <a:sym typeface="Carlito"/>
                </a:rPr>
                <a:t> and tailored care strategies. This insight helps prioritize resources and improve outcomes for these populations.</a:t>
              </a:r>
            </a:p>
          </p:txBody>
        </p:sp>
      </p:grpSp>
    </p:spTree>
  </p:cSld>
  <p:clrMapOvr>
    <a:masterClrMapping/>
  </p:clrMapOvr>
</p:sld>
</file>

<file path=ppt/slides/slide5.xml><?xml version="1.0" encoding="utf-8"?>
<p:sld xmlns:p="http://schemas.openxmlformats.org/presentationml/2006/main" xmlns:a="http://schemas.openxmlformats.org/drawingml/2006/main">
  <p:cSld>
    <p:bg>
      <p:bgPr>
        <a:solidFill>
          <a:srgbClr val="001F3D"/>
        </a:solidFill>
      </p:bgPr>
    </p:bg>
    <p:spTree>
      <p:nvGrpSpPr>
        <p:cNvPr id="1" name=""/>
        <p:cNvGrpSpPr/>
        <p:nvPr/>
      </p:nvGrpSpPr>
      <p:grpSpPr>
        <a:xfrm>
          <a:off x="0" y="0"/>
          <a:ext cx="0" cy="0"/>
          <a:chOff x="0" y="0"/>
          <a:chExt cx="0" cy="0"/>
        </a:xfrm>
      </p:grpSpPr>
      <p:grpSp>
        <p:nvGrpSpPr>
          <p:cNvPr name="Group 2" id="2"/>
          <p:cNvGrpSpPr/>
          <p:nvPr/>
        </p:nvGrpSpPr>
        <p:grpSpPr>
          <a:xfrm rot="0">
            <a:off x="666750" y="5143500"/>
            <a:ext cx="6057900" cy="4008120"/>
            <a:chOff x="0" y="0"/>
            <a:chExt cx="8077200" cy="5344160"/>
          </a:xfrm>
        </p:grpSpPr>
        <p:sp>
          <p:nvSpPr>
            <p:cNvPr name="TextBox 3" id="3"/>
            <p:cNvSpPr txBox="true"/>
            <p:nvPr/>
          </p:nvSpPr>
          <p:spPr>
            <a:xfrm rot="0">
              <a:off x="0" y="0"/>
              <a:ext cx="8077200" cy="584200"/>
            </a:xfrm>
            <a:prstGeom prst="rect">
              <a:avLst/>
            </a:prstGeom>
          </p:spPr>
          <p:txBody>
            <a:bodyPr anchor="t" rtlCol="false" tIns="0" lIns="0" bIns="0" rIns="0">
              <a:spAutoFit/>
            </a:bodyPr>
            <a:lstStyle/>
            <a:p>
              <a:pPr algn="l" marL="0" indent="0" lvl="0">
                <a:lnSpc>
                  <a:spcPts val="3480"/>
                </a:lnSpc>
                <a:spcBef>
                  <a:spcPct val="0"/>
                </a:spcBef>
              </a:pPr>
              <a:r>
                <a:rPr lang="en-US" sz="2900" strike="noStrike" u="none">
                  <a:solidFill>
                    <a:srgbClr val="F8DCBF"/>
                  </a:solidFill>
                  <a:latin typeface="Radley"/>
                  <a:ea typeface="Radley"/>
                  <a:cs typeface="Radley"/>
                  <a:sym typeface="Radley"/>
                </a:rPr>
                <a:t>Volume Highlights</a:t>
              </a:r>
            </a:p>
          </p:txBody>
        </p:sp>
        <p:sp>
          <p:nvSpPr>
            <p:cNvPr name="TextBox 4" id="4"/>
            <p:cNvSpPr txBox="true"/>
            <p:nvPr/>
          </p:nvSpPr>
          <p:spPr>
            <a:xfrm rot="0">
              <a:off x="0" y="1152525"/>
              <a:ext cx="8077200" cy="4191635"/>
            </a:xfrm>
            <a:prstGeom prst="rect">
              <a:avLst/>
            </a:prstGeom>
          </p:spPr>
          <p:txBody>
            <a:bodyPr anchor="t" rtlCol="false" tIns="0" lIns="0" bIns="0" rIns="0">
              <a:spAutoFit/>
            </a:bodyPr>
            <a:lstStyle/>
            <a:p>
              <a:pPr algn="l" marL="0" indent="0" lvl="0">
                <a:lnSpc>
                  <a:spcPts val="3120"/>
                </a:lnSpc>
                <a:spcBef>
                  <a:spcPct val="0"/>
                </a:spcBef>
              </a:pPr>
              <a:r>
                <a:rPr lang="en-US" sz="2400" strike="noStrike" u="none">
                  <a:solidFill>
                    <a:srgbClr val="F8DCBF"/>
                  </a:solidFill>
                  <a:latin typeface="Carlito"/>
                  <a:ea typeface="Carlito"/>
                  <a:cs typeface="Carlito"/>
                  <a:sym typeface="Carlito"/>
                </a:rPr>
                <a:t>The highest volume diagnoses include Diabetes, Asthma, and Covid-19, with respective counts of approximately 208, 203, and 202. These figures indicate prevalent health issues within the patient population, underscoring the need for targeted resources and strategies to address the management and treatment of these conditions effectively.</a:t>
              </a:r>
            </a:p>
          </p:txBody>
        </p:sp>
      </p:grpSp>
      <p:grpSp>
        <p:nvGrpSpPr>
          <p:cNvPr name="Group 5" id="5"/>
          <p:cNvGrpSpPr/>
          <p:nvPr/>
        </p:nvGrpSpPr>
        <p:grpSpPr>
          <a:xfrm rot="0">
            <a:off x="7858125" y="5143500"/>
            <a:ext cx="6057900" cy="4008120"/>
            <a:chOff x="0" y="0"/>
            <a:chExt cx="8077200" cy="5344160"/>
          </a:xfrm>
        </p:grpSpPr>
        <p:sp>
          <p:nvSpPr>
            <p:cNvPr name="TextBox 6" id="6"/>
            <p:cNvSpPr txBox="true"/>
            <p:nvPr/>
          </p:nvSpPr>
          <p:spPr>
            <a:xfrm rot="0">
              <a:off x="0" y="0"/>
              <a:ext cx="8077200" cy="584200"/>
            </a:xfrm>
            <a:prstGeom prst="rect">
              <a:avLst/>
            </a:prstGeom>
          </p:spPr>
          <p:txBody>
            <a:bodyPr anchor="t" rtlCol="false" tIns="0" lIns="0" bIns="0" rIns="0">
              <a:spAutoFit/>
            </a:bodyPr>
            <a:lstStyle/>
            <a:p>
              <a:pPr algn="l" marL="0" indent="0" lvl="0">
                <a:lnSpc>
                  <a:spcPts val="3480"/>
                </a:lnSpc>
                <a:spcBef>
                  <a:spcPct val="0"/>
                </a:spcBef>
              </a:pPr>
              <a:r>
                <a:rPr lang="en-US" sz="2900" strike="noStrike" u="none">
                  <a:solidFill>
                    <a:srgbClr val="F8DCBF"/>
                  </a:solidFill>
                  <a:latin typeface="Radley"/>
                  <a:ea typeface="Radley"/>
                  <a:cs typeface="Radley"/>
                  <a:sym typeface="Radley"/>
                </a:rPr>
                <a:t>Recovery Ratings</a:t>
              </a:r>
            </a:p>
          </p:txBody>
        </p:sp>
        <p:sp>
          <p:nvSpPr>
            <p:cNvPr name="TextBox 7" id="7"/>
            <p:cNvSpPr txBox="true"/>
            <p:nvPr/>
          </p:nvSpPr>
          <p:spPr>
            <a:xfrm rot="0">
              <a:off x="0" y="1152525"/>
              <a:ext cx="8077200" cy="4191635"/>
            </a:xfrm>
            <a:prstGeom prst="rect">
              <a:avLst/>
            </a:prstGeom>
          </p:spPr>
          <p:txBody>
            <a:bodyPr anchor="t" rtlCol="false" tIns="0" lIns="0" bIns="0" rIns="0">
              <a:spAutoFit/>
            </a:bodyPr>
            <a:lstStyle/>
            <a:p>
              <a:pPr algn="l" marL="0" indent="0" lvl="0">
                <a:lnSpc>
                  <a:spcPts val="3120"/>
                </a:lnSpc>
                <a:spcBef>
                  <a:spcPct val="0"/>
                </a:spcBef>
              </a:pPr>
              <a:r>
                <a:rPr lang="en-US" sz="2400" strike="noStrike" u="none">
                  <a:solidFill>
                    <a:srgbClr val="F8DCBF"/>
                  </a:solidFill>
                  <a:latin typeface="Carlito"/>
                  <a:ea typeface="Carlito"/>
                  <a:cs typeface="Carlito"/>
                  <a:sym typeface="Carlito"/>
                </a:rPr>
                <a:t>Recovery ratings reveal significant disparities among diagnoses, with Hypertension leading at 5.75 and Asthma trailing at 5.11. This difference highlights a critical area for intervention, suggesting that additional support and improved treatment protocols for Asthma patients could enhance recovery outcomes and overall patient satisfaction in the healthcare system.</a:t>
              </a:r>
            </a:p>
          </p:txBody>
        </p:sp>
      </p:grpSp>
      <p:grpSp>
        <p:nvGrpSpPr>
          <p:cNvPr name="Group 8" id="8"/>
          <p:cNvGrpSpPr/>
          <p:nvPr/>
        </p:nvGrpSpPr>
        <p:grpSpPr>
          <a:xfrm rot="0">
            <a:off x="666750" y="661581"/>
            <a:ext cx="12944475" cy="1795780"/>
            <a:chOff x="0" y="0"/>
            <a:chExt cx="17259300" cy="2394374"/>
          </a:xfrm>
        </p:grpSpPr>
        <p:sp>
          <p:nvSpPr>
            <p:cNvPr name="TextBox 9" id="9"/>
            <p:cNvSpPr txBox="true"/>
            <p:nvPr/>
          </p:nvSpPr>
          <p:spPr>
            <a:xfrm rot="0">
              <a:off x="0" y="142875"/>
              <a:ext cx="17259300" cy="1275292"/>
            </a:xfrm>
            <a:prstGeom prst="rect">
              <a:avLst/>
            </a:prstGeom>
          </p:spPr>
          <p:txBody>
            <a:bodyPr anchor="t" rtlCol="false" tIns="0" lIns="0" bIns="0" rIns="0">
              <a:spAutoFit/>
            </a:bodyPr>
            <a:lstStyle/>
            <a:p>
              <a:pPr algn="l" marL="0" indent="0" lvl="0">
                <a:lnSpc>
                  <a:spcPts val="6999"/>
                </a:lnSpc>
              </a:pPr>
              <a:r>
                <a:rPr lang="en-US" sz="6999">
                  <a:solidFill>
                    <a:srgbClr val="F8DCBF"/>
                  </a:solidFill>
                  <a:latin typeface="Radley"/>
                  <a:ea typeface="Radley"/>
                  <a:cs typeface="Radley"/>
                  <a:sym typeface="Radley"/>
                </a:rPr>
                <a:t>Diagnosis Performance</a:t>
              </a:r>
            </a:p>
          </p:txBody>
        </p:sp>
        <p:sp>
          <p:nvSpPr>
            <p:cNvPr name="TextBox 10" id="10"/>
            <p:cNvSpPr txBox="true"/>
            <p:nvPr/>
          </p:nvSpPr>
          <p:spPr>
            <a:xfrm rot="0">
              <a:off x="0" y="1771650"/>
              <a:ext cx="17259300" cy="622724"/>
            </a:xfrm>
            <a:prstGeom prst="rect">
              <a:avLst/>
            </a:prstGeom>
          </p:spPr>
          <p:txBody>
            <a:bodyPr anchor="t" rtlCol="false" tIns="0" lIns="0" bIns="0" rIns="0">
              <a:spAutoFit/>
            </a:bodyPr>
            <a:lstStyle/>
            <a:p>
              <a:pPr algn="l" marL="0" indent="0" lvl="0">
                <a:lnSpc>
                  <a:spcPts val="3919"/>
                </a:lnSpc>
                <a:spcBef>
                  <a:spcPct val="0"/>
                </a:spcBef>
              </a:pPr>
              <a:r>
                <a:rPr lang="en-US" sz="2799" strike="noStrike" u="none">
                  <a:solidFill>
                    <a:srgbClr val="F8DCBF"/>
                  </a:solidFill>
                  <a:latin typeface="Radley"/>
                  <a:ea typeface="Radley"/>
                  <a:cs typeface="Radley"/>
                  <a:sym typeface="Radley"/>
                </a:rPr>
                <a:t>Comparing Volume and Recovery Ratings</a:t>
              </a:r>
            </a:p>
          </p:txBody>
        </p:sp>
      </p:grpSp>
      <p:grpSp>
        <p:nvGrpSpPr>
          <p:cNvPr name="Group 11" id="11"/>
          <p:cNvGrpSpPr/>
          <p:nvPr/>
        </p:nvGrpSpPr>
        <p:grpSpPr>
          <a:xfrm rot="0">
            <a:off x="17202135" y="459202"/>
            <a:ext cx="2171730" cy="2205796"/>
            <a:chOff x="0" y="0"/>
            <a:chExt cx="812800" cy="825500"/>
          </a:xfrm>
        </p:grpSpPr>
        <p:sp>
          <p:nvSpPr>
            <p:cNvPr name="Freeform 12" id="12"/>
            <p:cNvSpPr/>
            <p:nvPr/>
          </p:nvSpPr>
          <p:spPr>
            <a:xfrm flipH="false" flipV="false" rot="0">
              <a:off x="1270" y="0"/>
              <a:ext cx="810260" cy="822960"/>
            </a:xfrm>
            <a:custGeom>
              <a:avLst/>
              <a:gdLst/>
              <a:ahLst/>
              <a:cxnLst/>
              <a:rect r="r" b="b" t="t" l="l"/>
              <a:pathLst>
                <a:path h="822960" w="8102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F8DCBF"/>
            </a:solidFill>
          </p:spPr>
        </p:sp>
        <p:sp>
          <p:nvSpPr>
            <p:cNvPr name="TextBox 13" id="13"/>
            <p:cNvSpPr txBox="true"/>
            <p:nvPr/>
          </p:nvSpPr>
          <p:spPr>
            <a:xfrm>
              <a:off x="141746" y="112576"/>
              <a:ext cx="529308" cy="559367"/>
            </a:xfrm>
            <a:prstGeom prst="rect">
              <a:avLst/>
            </a:prstGeom>
          </p:spPr>
          <p:txBody>
            <a:bodyPr anchor="ctr" rtlCol="false" tIns="50800" lIns="50800" bIns="50800" rIns="50800"/>
            <a:lstStyle/>
            <a:p>
              <a:pPr algn="ctr" marL="0" indent="0" lvl="0">
                <a:lnSpc>
                  <a:spcPts val="3359"/>
                </a:lnSpc>
                <a:spcBef>
                  <a:spcPct val="0"/>
                </a:spcBef>
              </a:pPr>
            </a:p>
          </p:txBody>
        </p:sp>
      </p:grpSp>
    </p:spTree>
  </p:cSld>
  <p:clrMapOvr>
    <a:masterClrMapping/>
  </p:clrMapOvr>
</p:sld>
</file>

<file path=ppt/slides/slide6.xml><?xml version="1.0" encoding="utf-8"?>
<p:sld xmlns:p="http://schemas.openxmlformats.org/presentationml/2006/main" xmlns:a="http://schemas.openxmlformats.org/drawingml/2006/main">
  <p:cSld>
    <p:bg>
      <p:bgPr>
        <a:solidFill>
          <a:srgbClr val="001F3D"/>
        </a:solidFill>
      </p:bgPr>
    </p:bg>
    <p:spTree>
      <p:nvGrpSpPr>
        <p:cNvPr id="1" name=""/>
        <p:cNvGrpSpPr/>
        <p:nvPr/>
      </p:nvGrpSpPr>
      <p:grpSpPr>
        <a:xfrm>
          <a:off x="0" y="0"/>
          <a:ext cx="0" cy="0"/>
          <a:chOff x="0" y="0"/>
          <a:chExt cx="0" cy="0"/>
        </a:xfrm>
      </p:grpSpPr>
      <p:grpSp>
        <p:nvGrpSpPr>
          <p:cNvPr name="Group 2" id="2"/>
          <p:cNvGrpSpPr/>
          <p:nvPr/>
        </p:nvGrpSpPr>
        <p:grpSpPr>
          <a:xfrm rot="0">
            <a:off x="666750" y="5143500"/>
            <a:ext cx="6057900" cy="3686937"/>
            <a:chOff x="0" y="0"/>
            <a:chExt cx="8077200" cy="4915916"/>
          </a:xfrm>
        </p:grpSpPr>
        <p:sp>
          <p:nvSpPr>
            <p:cNvPr name="TextBox 3" id="3"/>
            <p:cNvSpPr txBox="true"/>
            <p:nvPr/>
          </p:nvSpPr>
          <p:spPr>
            <a:xfrm rot="0">
              <a:off x="0" y="0"/>
              <a:ext cx="8077200" cy="558800"/>
            </a:xfrm>
            <a:prstGeom prst="rect">
              <a:avLst/>
            </a:prstGeom>
          </p:spPr>
          <p:txBody>
            <a:bodyPr anchor="t" rtlCol="false" tIns="0" lIns="0" bIns="0" rIns="0">
              <a:spAutoFit/>
            </a:bodyPr>
            <a:lstStyle/>
            <a:p>
              <a:pPr algn="l" marL="0" indent="0" lvl="0">
                <a:lnSpc>
                  <a:spcPts val="3318"/>
                </a:lnSpc>
                <a:spcBef>
                  <a:spcPct val="0"/>
                </a:spcBef>
              </a:pPr>
              <a:r>
                <a:rPr lang="en-US" sz="2765" strike="noStrike" u="none">
                  <a:solidFill>
                    <a:srgbClr val="F8DCBF"/>
                  </a:solidFill>
                  <a:latin typeface="Radley"/>
                  <a:ea typeface="Radley"/>
                  <a:cs typeface="Radley"/>
                  <a:sym typeface="Radley"/>
                </a:rPr>
                <a:t>Cost Insights</a:t>
              </a:r>
            </a:p>
          </p:txBody>
        </p:sp>
        <p:sp>
          <p:nvSpPr>
            <p:cNvPr name="TextBox 4" id="4"/>
            <p:cNvSpPr txBox="true"/>
            <p:nvPr/>
          </p:nvSpPr>
          <p:spPr>
            <a:xfrm rot="0">
              <a:off x="0" y="1127125"/>
              <a:ext cx="8077200" cy="3788791"/>
            </a:xfrm>
            <a:prstGeom prst="rect">
              <a:avLst/>
            </a:prstGeom>
          </p:spPr>
          <p:txBody>
            <a:bodyPr anchor="t" rtlCol="false" tIns="0" lIns="0" bIns="0" rIns="0">
              <a:spAutoFit/>
            </a:bodyPr>
            <a:lstStyle/>
            <a:p>
              <a:pPr algn="l" marL="0" indent="0" lvl="0">
                <a:lnSpc>
                  <a:spcPts val="2847"/>
                </a:lnSpc>
                <a:spcBef>
                  <a:spcPct val="0"/>
                </a:spcBef>
              </a:pPr>
              <a:r>
                <a:rPr lang="en-US" sz="2190" strike="noStrike" u="none">
                  <a:solidFill>
                    <a:srgbClr val="F8DCBF"/>
                  </a:solidFill>
                  <a:latin typeface="Carlito"/>
                  <a:ea typeface="Carlito"/>
                  <a:cs typeface="Carlito"/>
                  <a:sym typeface="Carlito"/>
                </a:rPr>
                <a:t>Understanding the relationship between cost and recovery is essential. Notably, Hypertension presents the highest cost at approximately $10.62K, yet it achieves the best recovery rating at 5.75. This suggests that effective management strategies are in place, and the focus should be on replicating these practices across other diagnoses to optimize outcomes and resource allocation.</a:t>
              </a:r>
            </a:p>
          </p:txBody>
        </p:sp>
      </p:grpSp>
      <p:grpSp>
        <p:nvGrpSpPr>
          <p:cNvPr name="Group 5" id="5"/>
          <p:cNvGrpSpPr/>
          <p:nvPr/>
        </p:nvGrpSpPr>
        <p:grpSpPr>
          <a:xfrm rot="0">
            <a:off x="7858125" y="5143500"/>
            <a:ext cx="6057900" cy="3686937"/>
            <a:chOff x="0" y="0"/>
            <a:chExt cx="8077200" cy="4915916"/>
          </a:xfrm>
        </p:grpSpPr>
        <p:sp>
          <p:nvSpPr>
            <p:cNvPr name="TextBox 6" id="6"/>
            <p:cNvSpPr txBox="true"/>
            <p:nvPr/>
          </p:nvSpPr>
          <p:spPr>
            <a:xfrm rot="0">
              <a:off x="0" y="0"/>
              <a:ext cx="8077200" cy="558800"/>
            </a:xfrm>
            <a:prstGeom prst="rect">
              <a:avLst/>
            </a:prstGeom>
          </p:spPr>
          <p:txBody>
            <a:bodyPr anchor="t" rtlCol="false" tIns="0" lIns="0" bIns="0" rIns="0">
              <a:spAutoFit/>
            </a:bodyPr>
            <a:lstStyle/>
            <a:p>
              <a:pPr algn="l" marL="0" indent="0" lvl="0">
                <a:lnSpc>
                  <a:spcPts val="3318"/>
                </a:lnSpc>
                <a:spcBef>
                  <a:spcPct val="0"/>
                </a:spcBef>
              </a:pPr>
              <a:r>
                <a:rPr lang="en-US" sz="2765" strike="noStrike" u="none">
                  <a:solidFill>
                    <a:srgbClr val="F8DCBF"/>
                  </a:solidFill>
                  <a:latin typeface="Radley"/>
                  <a:ea typeface="Radley"/>
                  <a:cs typeface="Radley"/>
                  <a:sym typeface="Radley"/>
                </a:rPr>
                <a:t>Recovery Challenges</a:t>
              </a:r>
            </a:p>
          </p:txBody>
        </p:sp>
        <p:sp>
          <p:nvSpPr>
            <p:cNvPr name="TextBox 7" id="7"/>
            <p:cNvSpPr txBox="true"/>
            <p:nvPr/>
          </p:nvSpPr>
          <p:spPr>
            <a:xfrm rot="0">
              <a:off x="0" y="1127125"/>
              <a:ext cx="8077200" cy="3788791"/>
            </a:xfrm>
            <a:prstGeom prst="rect">
              <a:avLst/>
            </a:prstGeom>
          </p:spPr>
          <p:txBody>
            <a:bodyPr anchor="t" rtlCol="false" tIns="0" lIns="0" bIns="0" rIns="0">
              <a:spAutoFit/>
            </a:bodyPr>
            <a:lstStyle/>
            <a:p>
              <a:pPr algn="l" marL="0" indent="0" lvl="0">
                <a:lnSpc>
                  <a:spcPts val="2847"/>
                </a:lnSpc>
                <a:spcBef>
                  <a:spcPct val="0"/>
                </a:spcBef>
              </a:pPr>
              <a:r>
                <a:rPr lang="en-US" sz="2190" strike="noStrike" u="none">
                  <a:solidFill>
                    <a:srgbClr val="F8DCBF"/>
                  </a:solidFill>
                  <a:latin typeface="Carlito"/>
                  <a:ea typeface="Carlito"/>
                  <a:cs typeface="Carlito"/>
                  <a:sym typeface="Carlito"/>
                </a:rPr>
                <a:t>Asthma, despite moderate costs of around $10.00K, shows the lowest recovery rating at 5.11. This underperformance indicates a critical need for process improvements and standardized care pathways. Addressing the inefficiencies in asthma treatment could significantly enhance recovery rates, ensuring that resources are directed toward effective interventions and improving patient outcomes.</a:t>
              </a:r>
            </a:p>
          </p:txBody>
        </p:sp>
      </p:grpSp>
      <p:grpSp>
        <p:nvGrpSpPr>
          <p:cNvPr name="Group 8" id="8"/>
          <p:cNvGrpSpPr/>
          <p:nvPr/>
        </p:nvGrpSpPr>
        <p:grpSpPr>
          <a:xfrm rot="0">
            <a:off x="666750" y="661581"/>
            <a:ext cx="12944475" cy="1754378"/>
            <a:chOff x="0" y="0"/>
            <a:chExt cx="17259300" cy="2339171"/>
          </a:xfrm>
        </p:grpSpPr>
        <p:sp>
          <p:nvSpPr>
            <p:cNvPr name="TextBox 9" id="9"/>
            <p:cNvSpPr txBox="true"/>
            <p:nvPr/>
          </p:nvSpPr>
          <p:spPr>
            <a:xfrm rot="0">
              <a:off x="0" y="142875"/>
              <a:ext cx="17259300" cy="1275292"/>
            </a:xfrm>
            <a:prstGeom prst="rect">
              <a:avLst/>
            </a:prstGeom>
          </p:spPr>
          <p:txBody>
            <a:bodyPr anchor="t" rtlCol="false" tIns="0" lIns="0" bIns="0" rIns="0">
              <a:spAutoFit/>
            </a:bodyPr>
            <a:lstStyle/>
            <a:p>
              <a:pPr algn="l" marL="0" indent="0" lvl="0">
                <a:lnSpc>
                  <a:spcPts val="6999"/>
                </a:lnSpc>
              </a:pPr>
              <a:r>
                <a:rPr lang="en-US" sz="6999">
                  <a:solidFill>
                    <a:srgbClr val="F8DCBF"/>
                  </a:solidFill>
                  <a:latin typeface="Radley"/>
                  <a:ea typeface="Radley"/>
                  <a:cs typeface="Radley"/>
                  <a:sym typeface="Radley"/>
                </a:rPr>
                <a:t>Cost vs Recovery</a:t>
              </a:r>
            </a:p>
          </p:txBody>
        </p:sp>
        <p:sp>
          <p:nvSpPr>
            <p:cNvPr name="TextBox 10" id="10"/>
            <p:cNvSpPr txBox="true"/>
            <p:nvPr/>
          </p:nvSpPr>
          <p:spPr>
            <a:xfrm rot="0">
              <a:off x="0" y="1781175"/>
              <a:ext cx="17259300" cy="557996"/>
            </a:xfrm>
            <a:prstGeom prst="rect">
              <a:avLst/>
            </a:prstGeom>
          </p:spPr>
          <p:txBody>
            <a:bodyPr anchor="t" rtlCol="false" tIns="0" lIns="0" bIns="0" rIns="0">
              <a:spAutoFit/>
            </a:bodyPr>
            <a:lstStyle/>
            <a:p>
              <a:pPr algn="l" marL="0" indent="0" lvl="0">
                <a:lnSpc>
                  <a:spcPts val="3576"/>
                </a:lnSpc>
                <a:spcBef>
                  <a:spcPct val="0"/>
                </a:spcBef>
              </a:pPr>
              <a:r>
                <a:rPr lang="en-US" sz="2554" strike="noStrike" u="none">
                  <a:solidFill>
                    <a:srgbClr val="F8DCBF"/>
                  </a:solidFill>
                  <a:latin typeface="Radley"/>
                  <a:ea typeface="Radley"/>
                  <a:cs typeface="Radley"/>
                  <a:sym typeface="Radley"/>
                </a:rPr>
                <a:t>Analyzing Key Diagnoses and Outcomes</a:t>
              </a:r>
            </a:p>
          </p:txBody>
        </p:sp>
      </p:grpSp>
      <p:grpSp>
        <p:nvGrpSpPr>
          <p:cNvPr name="Group 11" id="11"/>
          <p:cNvGrpSpPr/>
          <p:nvPr/>
        </p:nvGrpSpPr>
        <p:grpSpPr>
          <a:xfrm rot="0">
            <a:off x="17202135" y="459202"/>
            <a:ext cx="2171730" cy="2205796"/>
            <a:chOff x="0" y="0"/>
            <a:chExt cx="812800" cy="825500"/>
          </a:xfrm>
        </p:grpSpPr>
        <p:sp>
          <p:nvSpPr>
            <p:cNvPr name="Freeform 12" id="12"/>
            <p:cNvSpPr/>
            <p:nvPr/>
          </p:nvSpPr>
          <p:spPr>
            <a:xfrm flipH="false" flipV="false" rot="0">
              <a:off x="1270" y="0"/>
              <a:ext cx="810260" cy="822960"/>
            </a:xfrm>
            <a:custGeom>
              <a:avLst/>
              <a:gdLst/>
              <a:ahLst/>
              <a:cxnLst/>
              <a:rect r="r" b="b" t="t" l="l"/>
              <a:pathLst>
                <a:path h="822960" w="8102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F8DCBF"/>
            </a:solidFill>
          </p:spPr>
        </p:sp>
        <p:sp>
          <p:nvSpPr>
            <p:cNvPr name="TextBox 13" id="13"/>
            <p:cNvSpPr txBox="true"/>
            <p:nvPr/>
          </p:nvSpPr>
          <p:spPr>
            <a:xfrm>
              <a:off x="141746" y="112576"/>
              <a:ext cx="529308" cy="559367"/>
            </a:xfrm>
            <a:prstGeom prst="rect">
              <a:avLst/>
            </a:prstGeom>
          </p:spPr>
          <p:txBody>
            <a:bodyPr anchor="ctr" rtlCol="false" tIns="50800" lIns="50800" bIns="50800" rIns="50800"/>
            <a:lstStyle/>
            <a:p>
              <a:pPr algn="ctr" marL="0" indent="0" lvl="0">
                <a:lnSpc>
                  <a:spcPts val="3359"/>
                </a:lnSpc>
                <a:spcBef>
                  <a:spcPct val="0"/>
                </a:spcBef>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1F3D"/>
        </a:solidFill>
      </p:bgPr>
    </p:bg>
    <p:spTree>
      <p:nvGrpSpPr>
        <p:cNvPr id="1" name=""/>
        <p:cNvGrpSpPr/>
        <p:nvPr/>
      </p:nvGrpSpPr>
      <p:grpSpPr>
        <a:xfrm>
          <a:off x="0" y="0"/>
          <a:ext cx="0" cy="0"/>
          <a:chOff x="0" y="0"/>
          <a:chExt cx="0" cy="0"/>
        </a:xfrm>
      </p:grpSpPr>
      <p:grpSp>
        <p:nvGrpSpPr>
          <p:cNvPr name="Group 2" id="2"/>
          <p:cNvGrpSpPr/>
          <p:nvPr/>
        </p:nvGrpSpPr>
        <p:grpSpPr>
          <a:xfrm rot="0">
            <a:off x="10429875" y="0"/>
            <a:ext cx="7858125" cy="10287000"/>
            <a:chOff x="0" y="0"/>
            <a:chExt cx="1217429" cy="1593725"/>
          </a:xfrm>
        </p:grpSpPr>
        <p:sp>
          <p:nvSpPr>
            <p:cNvPr name="Freeform 3" id="3"/>
            <p:cNvSpPr/>
            <p:nvPr/>
          </p:nvSpPr>
          <p:spPr>
            <a:xfrm flipH="false" flipV="false" rot="0">
              <a:off x="0" y="0"/>
              <a:ext cx="1217429" cy="1593725"/>
            </a:xfrm>
            <a:custGeom>
              <a:avLst/>
              <a:gdLst/>
              <a:ahLst/>
              <a:cxnLst/>
              <a:rect r="r" b="b" t="t" l="l"/>
              <a:pathLst>
                <a:path h="1593725" w="1217429">
                  <a:moveTo>
                    <a:pt x="0" y="0"/>
                  </a:moveTo>
                  <a:lnTo>
                    <a:pt x="1217429" y="0"/>
                  </a:lnTo>
                  <a:lnTo>
                    <a:pt x="1217429" y="1593725"/>
                  </a:lnTo>
                  <a:lnTo>
                    <a:pt x="0" y="1593725"/>
                  </a:lnTo>
                  <a:close/>
                </a:path>
              </a:pathLst>
            </a:custGeom>
            <a:blipFill>
              <a:blip r:embed="rId2"/>
              <a:stretch>
                <a:fillRect l="0" t="-421" r="0" b="-421"/>
              </a:stretch>
            </a:blipFill>
          </p:spPr>
        </p:sp>
      </p:grpSp>
      <p:grpSp>
        <p:nvGrpSpPr>
          <p:cNvPr name="Group 4" id="4"/>
          <p:cNvGrpSpPr/>
          <p:nvPr/>
        </p:nvGrpSpPr>
        <p:grpSpPr>
          <a:xfrm rot="0">
            <a:off x="666750" y="666755"/>
            <a:ext cx="7230865" cy="5753100"/>
            <a:chOff x="0" y="0"/>
            <a:chExt cx="9641153" cy="7670800"/>
          </a:xfrm>
        </p:grpSpPr>
        <p:sp>
          <p:nvSpPr>
            <p:cNvPr name="TextBox 5" id="5"/>
            <p:cNvSpPr txBox="true"/>
            <p:nvPr/>
          </p:nvSpPr>
          <p:spPr>
            <a:xfrm rot="0">
              <a:off x="26326" y="57150"/>
              <a:ext cx="9614826" cy="1358479"/>
            </a:xfrm>
            <a:prstGeom prst="rect">
              <a:avLst/>
            </a:prstGeom>
          </p:spPr>
          <p:txBody>
            <a:bodyPr anchor="t" rtlCol="false" tIns="0" lIns="0" bIns="0" rIns="0">
              <a:spAutoFit/>
            </a:bodyPr>
            <a:lstStyle/>
            <a:p>
              <a:pPr algn="l" marL="0" indent="0" lvl="0">
                <a:lnSpc>
                  <a:spcPts val="7840"/>
                </a:lnSpc>
                <a:spcBef>
                  <a:spcPct val="0"/>
                </a:spcBef>
              </a:pPr>
              <a:r>
                <a:rPr lang="en-US" sz="7000" i="true">
                  <a:solidFill>
                    <a:srgbClr val="F8DCBF"/>
                  </a:solidFill>
                  <a:latin typeface="Radley Italics"/>
                  <a:ea typeface="Radley Italics"/>
                  <a:cs typeface="Radley Italics"/>
                  <a:sym typeface="Radley Italics"/>
                </a:rPr>
                <a:t>Treatment Mix</a:t>
              </a:r>
            </a:p>
          </p:txBody>
        </p:sp>
        <p:sp>
          <p:nvSpPr>
            <p:cNvPr name="TextBox 6" id="6"/>
            <p:cNvSpPr txBox="true"/>
            <p:nvPr/>
          </p:nvSpPr>
          <p:spPr>
            <a:xfrm rot="0">
              <a:off x="26326" y="2387600"/>
              <a:ext cx="9614826" cy="2095500"/>
            </a:xfrm>
            <a:prstGeom prst="rect">
              <a:avLst/>
            </a:prstGeom>
          </p:spPr>
          <p:txBody>
            <a:bodyPr anchor="t" rtlCol="false" tIns="0" lIns="0" bIns="0" rIns="0">
              <a:spAutoFit/>
            </a:bodyPr>
            <a:lstStyle/>
            <a:p>
              <a:pPr algn="l" marL="0" indent="0" lvl="0">
                <a:lnSpc>
                  <a:spcPts val="4199"/>
                </a:lnSpc>
                <a:spcBef>
                  <a:spcPct val="0"/>
                </a:spcBef>
              </a:pPr>
              <a:r>
                <a:rPr lang="en-US" sz="3499" u="none">
                  <a:solidFill>
                    <a:srgbClr val="F8DCBF"/>
                  </a:solidFill>
                  <a:latin typeface="Radley"/>
                  <a:ea typeface="Radley"/>
                  <a:cs typeface="Radley"/>
                  <a:sym typeface="Radley"/>
                </a:rPr>
                <a:t>Analyzing Patient Distribution Across Treatment Types and Age Groups</a:t>
              </a:r>
            </a:p>
          </p:txBody>
        </p:sp>
        <p:sp>
          <p:nvSpPr>
            <p:cNvPr name="AutoShape 7" id="7"/>
            <p:cNvSpPr/>
            <p:nvPr/>
          </p:nvSpPr>
          <p:spPr>
            <a:xfrm>
              <a:off x="0" y="1901614"/>
              <a:ext cx="9614826" cy="0"/>
            </a:xfrm>
            <a:prstGeom prst="line">
              <a:avLst/>
            </a:prstGeom>
            <a:ln cap="flat" w="25400">
              <a:solidFill>
                <a:srgbClr val="F8DCBF"/>
              </a:solidFill>
              <a:prstDash val="solid"/>
              <a:headEnd type="none" len="sm" w="sm"/>
              <a:tailEnd type="none" len="sm" w="sm"/>
            </a:ln>
          </p:spPr>
        </p:sp>
        <p:sp>
          <p:nvSpPr>
            <p:cNvPr name="TextBox 8" id="8"/>
            <p:cNvSpPr txBox="true"/>
            <p:nvPr/>
          </p:nvSpPr>
          <p:spPr>
            <a:xfrm rot="0">
              <a:off x="26326" y="5108575"/>
              <a:ext cx="9588500" cy="2562225"/>
            </a:xfrm>
            <a:prstGeom prst="rect">
              <a:avLst/>
            </a:prstGeom>
          </p:spPr>
          <p:txBody>
            <a:bodyPr anchor="t" rtlCol="false" tIns="0" lIns="0" bIns="0" rIns="0">
              <a:spAutoFit/>
            </a:bodyPr>
            <a:lstStyle/>
            <a:p>
              <a:pPr algn="l" marL="0" indent="0" lvl="0">
                <a:lnSpc>
                  <a:spcPts val="2520"/>
                </a:lnSpc>
              </a:pPr>
              <a:r>
                <a:rPr lang="en-US" sz="2100">
                  <a:solidFill>
                    <a:srgbClr val="F8DCBF"/>
                  </a:solidFill>
                  <a:latin typeface="Carlito"/>
                  <a:ea typeface="Carlito"/>
                  <a:cs typeface="Carlito"/>
                  <a:sym typeface="Carlito"/>
                </a:rPr>
                <a:t>Understanding the </a:t>
              </a:r>
              <a:r>
                <a:rPr lang="en-US" b="true" sz="2100">
                  <a:solidFill>
                    <a:srgbClr val="F8DCBF"/>
                  </a:solidFill>
                  <a:latin typeface="Carlito Bold"/>
                  <a:ea typeface="Carlito Bold"/>
                  <a:cs typeface="Carlito Bold"/>
                  <a:sym typeface="Carlito Bold"/>
                </a:rPr>
                <a:t>treatment mix</a:t>
              </a:r>
              <a:r>
                <a:rPr lang="en-US" sz="2100">
                  <a:solidFill>
                    <a:srgbClr val="F8DCBF"/>
                  </a:solidFill>
                  <a:latin typeface="Carlito"/>
                  <a:ea typeface="Carlito"/>
                  <a:cs typeface="Carlito"/>
                  <a:sym typeface="Carlito"/>
                </a:rPr>
                <a:t> among different age groups is essential for optimizing healthcare services. Our data reveals balanced distributions across medication, therapy, and surgery. Notably, seniors exhibit higher surgery rates, indicating a need for specialized staffing and resource allocation to better meet their healthcare demands.</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1F3D"/>
        </a:solidFill>
      </p:bgPr>
    </p:bg>
    <p:spTree>
      <p:nvGrpSpPr>
        <p:cNvPr id="1" name=""/>
        <p:cNvGrpSpPr/>
        <p:nvPr/>
      </p:nvGrpSpPr>
      <p:grpSpPr>
        <a:xfrm>
          <a:off x="0" y="0"/>
          <a:ext cx="0" cy="0"/>
          <a:chOff x="0" y="0"/>
          <a:chExt cx="0" cy="0"/>
        </a:xfrm>
      </p:grpSpPr>
      <p:grpSp>
        <p:nvGrpSpPr>
          <p:cNvPr name="Group 2" id="2"/>
          <p:cNvGrpSpPr/>
          <p:nvPr/>
        </p:nvGrpSpPr>
        <p:grpSpPr>
          <a:xfrm rot="0">
            <a:off x="10429875" y="0"/>
            <a:ext cx="7858125" cy="10287000"/>
            <a:chOff x="0" y="0"/>
            <a:chExt cx="1217429" cy="1593725"/>
          </a:xfrm>
        </p:grpSpPr>
        <p:sp>
          <p:nvSpPr>
            <p:cNvPr name="Freeform 3" id="3"/>
            <p:cNvSpPr/>
            <p:nvPr/>
          </p:nvSpPr>
          <p:spPr>
            <a:xfrm flipH="false" flipV="false" rot="0">
              <a:off x="0" y="0"/>
              <a:ext cx="1217429" cy="1593725"/>
            </a:xfrm>
            <a:custGeom>
              <a:avLst/>
              <a:gdLst/>
              <a:ahLst/>
              <a:cxnLst/>
              <a:rect r="r" b="b" t="t" l="l"/>
              <a:pathLst>
                <a:path h="1593725" w="1217429">
                  <a:moveTo>
                    <a:pt x="0" y="0"/>
                  </a:moveTo>
                  <a:lnTo>
                    <a:pt x="1217429" y="0"/>
                  </a:lnTo>
                  <a:lnTo>
                    <a:pt x="1217429" y="1593725"/>
                  </a:lnTo>
                  <a:lnTo>
                    <a:pt x="0" y="1593725"/>
                  </a:lnTo>
                  <a:close/>
                </a:path>
              </a:pathLst>
            </a:custGeom>
            <a:blipFill>
              <a:blip r:embed="rId2"/>
              <a:stretch>
                <a:fillRect l="0" t="-421" r="0" b="-421"/>
              </a:stretch>
            </a:blipFill>
          </p:spPr>
        </p:sp>
      </p:grpSp>
      <p:grpSp>
        <p:nvGrpSpPr>
          <p:cNvPr name="Group 4" id="4"/>
          <p:cNvGrpSpPr/>
          <p:nvPr/>
        </p:nvGrpSpPr>
        <p:grpSpPr>
          <a:xfrm rot="0">
            <a:off x="666750" y="666755"/>
            <a:ext cx="7230865" cy="6219825"/>
            <a:chOff x="0" y="0"/>
            <a:chExt cx="9641153" cy="8293100"/>
          </a:xfrm>
        </p:grpSpPr>
        <p:sp>
          <p:nvSpPr>
            <p:cNvPr name="TextBox 5" id="5"/>
            <p:cNvSpPr txBox="true"/>
            <p:nvPr/>
          </p:nvSpPr>
          <p:spPr>
            <a:xfrm rot="0">
              <a:off x="26326" y="57150"/>
              <a:ext cx="9614826" cy="2679279"/>
            </a:xfrm>
            <a:prstGeom prst="rect">
              <a:avLst/>
            </a:prstGeom>
          </p:spPr>
          <p:txBody>
            <a:bodyPr anchor="t" rtlCol="false" tIns="0" lIns="0" bIns="0" rIns="0">
              <a:spAutoFit/>
            </a:bodyPr>
            <a:lstStyle/>
            <a:p>
              <a:pPr algn="l" marL="0" indent="0" lvl="0">
                <a:lnSpc>
                  <a:spcPts val="7840"/>
                </a:lnSpc>
                <a:spcBef>
                  <a:spcPct val="0"/>
                </a:spcBef>
              </a:pPr>
              <a:r>
                <a:rPr lang="en-US" sz="7000" i="true">
                  <a:solidFill>
                    <a:srgbClr val="F8DCBF"/>
                  </a:solidFill>
                  <a:latin typeface="Radley Italics"/>
                  <a:ea typeface="Radley Italics"/>
                  <a:cs typeface="Radley Italics"/>
                  <a:sym typeface="Radley Italics"/>
                </a:rPr>
                <a:t>Patient Volume Trends</a:t>
              </a:r>
            </a:p>
          </p:txBody>
        </p:sp>
        <p:sp>
          <p:nvSpPr>
            <p:cNvPr name="TextBox 6" id="6"/>
            <p:cNvSpPr txBox="true"/>
            <p:nvPr/>
          </p:nvSpPr>
          <p:spPr>
            <a:xfrm rot="0">
              <a:off x="26326" y="3708400"/>
              <a:ext cx="9614826" cy="1397000"/>
            </a:xfrm>
            <a:prstGeom prst="rect">
              <a:avLst/>
            </a:prstGeom>
          </p:spPr>
          <p:txBody>
            <a:bodyPr anchor="t" rtlCol="false" tIns="0" lIns="0" bIns="0" rIns="0">
              <a:spAutoFit/>
            </a:bodyPr>
            <a:lstStyle/>
            <a:p>
              <a:pPr algn="l" marL="0" indent="0" lvl="0">
                <a:lnSpc>
                  <a:spcPts val="4199"/>
                </a:lnSpc>
                <a:spcBef>
                  <a:spcPct val="0"/>
                </a:spcBef>
              </a:pPr>
              <a:r>
                <a:rPr lang="en-US" sz="3499" u="none">
                  <a:solidFill>
                    <a:srgbClr val="F8DCBF"/>
                  </a:solidFill>
                  <a:latin typeface="Radley"/>
                  <a:ea typeface="Radley"/>
                  <a:cs typeface="Radley"/>
                  <a:sym typeface="Radley"/>
                </a:rPr>
                <a:t>Analyzing monthly patient counts reveals key operational insights</a:t>
              </a:r>
            </a:p>
          </p:txBody>
        </p:sp>
        <p:sp>
          <p:nvSpPr>
            <p:cNvPr name="AutoShape 7" id="7"/>
            <p:cNvSpPr/>
            <p:nvPr/>
          </p:nvSpPr>
          <p:spPr>
            <a:xfrm>
              <a:off x="0" y="3222414"/>
              <a:ext cx="9614826" cy="0"/>
            </a:xfrm>
            <a:prstGeom prst="line">
              <a:avLst/>
            </a:prstGeom>
            <a:ln cap="flat" w="25400">
              <a:solidFill>
                <a:srgbClr val="F8DCBF"/>
              </a:solidFill>
              <a:prstDash val="solid"/>
              <a:headEnd type="none" len="sm" w="sm"/>
              <a:tailEnd type="none" len="sm" w="sm"/>
            </a:ln>
          </p:spPr>
        </p:sp>
        <p:sp>
          <p:nvSpPr>
            <p:cNvPr name="TextBox 8" id="8"/>
            <p:cNvSpPr txBox="true"/>
            <p:nvPr/>
          </p:nvSpPr>
          <p:spPr>
            <a:xfrm rot="0">
              <a:off x="26326" y="5730875"/>
              <a:ext cx="9588500" cy="2562225"/>
            </a:xfrm>
            <a:prstGeom prst="rect">
              <a:avLst/>
            </a:prstGeom>
          </p:spPr>
          <p:txBody>
            <a:bodyPr anchor="t" rtlCol="false" tIns="0" lIns="0" bIns="0" rIns="0">
              <a:spAutoFit/>
            </a:bodyPr>
            <a:lstStyle/>
            <a:p>
              <a:pPr algn="l" marL="0" indent="0" lvl="0">
                <a:lnSpc>
                  <a:spcPts val="2520"/>
                </a:lnSpc>
              </a:pPr>
              <a:r>
                <a:rPr lang="en-US" sz="2100">
                  <a:solidFill>
                    <a:srgbClr val="F8DCBF"/>
                  </a:solidFill>
                  <a:latin typeface="Carlito"/>
                  <a:ea typeface="Carlito"/>
                  <a:cs typeface="Carlito"/>
                  <a:sym typeface="Carlito"/>
                </a:rPr>
                <a:t>Monthly patient counts exhibit a significant peak of nearly 93 patients, followed by a drop to approximately 60 by year-end. This trend suggests potential seasonality, reporting gaps, or operational constraints that may affect patient volume. Understanding these patterns is crucial for optimizing staffing and resource allocation strategies.</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1F3D"/>
        </a:solidFill>
      </p:bgPr>
    </p:bg>
    <p:spTree>
      <p:nvGrpSpPr>
        <p:cNvPr id="1" name=""/>
        <p:cNvGrpSpPr/>
        <p:nvPr/>
      </p:nvGrpSpPr>
      <p:grpSpPr>
        <a:xfrm>
          <a:off x="0" y="0"/>
          <a:ext cx="0" cy="0"/>
          <a:chOff x="0" y="0"/>
          <a:chExt cx="0" cy="0"/>
        </a:xfrm>
      </p:grpSpPr>
      <p:grpSp>
        <p:nvGrpSpPr>
          <p:cNvPr name="Group 2" id="2"/>
          <p:cNvGrpSpPr/>
          <p:nvPr/>
        </p:nvGrpSpPr>
        <p:grpSpPr>
          <a:xfrm rot="0">
            <a:off x="661988" y="2637865"/>
            <a:ext cx="16964025" cy="6229910"/>
            <a:chOff x="0" y="0"/>
            <a:chExt cx="22618700" cy="8306546"/>
          </a:xfrm>
        </p:grpSpPr>
        <p:grpSp>
          <p:nvGrpSpPr>
            <p:cNvPr name="Group 3" id="3"/>
            <p:cNvGrpSpPr/>
            <p:nvPr/>
          </p:nvGrpSpPr>
          <p:grpSpPr>
            <a:xfrm rot="0">
              <a:off x="18450509" y="0"/>
              <a:ext cx="4168191" cy="6357938"/>
              <a:chOff x="0" y="0"/>
              <a:chExt cx="1076712" cy="1642359"/>
            </a:xfrm>
          </p:grpSpPr>
          <p:sp>
            <p:nvSpPr>
              <p:cNvPr name="Freeform 4" id="4"/>
              <p:cNvSpPr/>
              <p:nvPr/>
            </p:nvSpPr>
            <p:spPr>
              <a:xfrm flipH="false" flipV="false" rot="0">
                <a:off x="0" y="0"/>
                <a:ext cx="1076712" cy="1642359"/>
              </a:xfrm>
              <a:custGeom>
                <a:avLst/>
                <a:gdLst/>
                <a:ahLst/>
                <a:cxnLst/>
                <a:rect r="r" b="b" t="t" l="l"/>
                <a:pathLst>
                  <a:path h="1642359" w="1076712">
                    <a:moveTo>
                      <a:pt x="0" y="0"/>
                    </a:moveTo>
                    <a:lnTo>
                      <a:pt x="1076712" y="0"/>
                    </a:lnTo>
                    <a:lnTo>
                      <a:pt x="1076712" y="1642359"/>
                    </a:lnTo>
                    <a:lnTo>
                      <a:pt x="0" y="1642359"/>
                    </a:lnTo>
                    <a:close/>
                  </a:path>
                </a:pathLst>
              </a:custGeom>
              <a:blipFill>
                <a:blip r:embed="rId2"/>
                <a:stretch>
                  <a:fillRect l="0" t="-333" r="0" b="-333"/>
                </a:stretch>
              </a:blipFill>
            </p:spPr>
          </p:sp>
        </p:grpSp>
        <p:grpSp>
          <p:nvGrpSpPr>
            <p:cNvPr name="Group 5" id="5"/>
            <p:cNvGrpSpPr/>
            <p:nvPr/>
          </p:nvGrpSpPr>
          <p:grpSpPr>
            <a:xfrm rot="0">
              <a:off x="13842262" y="0"/>
              <a:ext cx="4168191" cy="6357938"/>
              <a:chOff x="0" y="0"/>
              <a:chExt cx="1076712" cy="1642359"/>
            </a:xfrm>
          </p:grpSpPr>
          <p:sp>
            <p:nvSpPr>
              <p:cNvPr name="Freeform 6" id="6"/>
              <p:cNvSpPr/>
              <p:nvPr/>
            </p:nvSpPr>
            <p:spPr>
              <a:xfrm flipH="false" flipV="false" rot="0">
                <a:off x="0" y="0"/>
                <a:ext cx="1076712" cy="1642359"/>
              </a:xfrm>
              <a:custGeom>
                <a:avLst/>
                <a:gdLst/>
                <a:ahLst/>
                <a:cxnLst/>
                <a:rect r="r" b="b" t="t" l="l"/>
                <a:pathLst>
                  <a:path h="1642359" w="1076712">
                    <a:moveTo>
                      <a:pt x="0" y="0"/>
                    </a:moveTo>
                    <a:lnTo>
                      <a:pt x="1076712" y="0"/>
                    </a:lnTo>
                    <a:lnTo>
                      <a:pt x="1076712" y="1642359"/>
                    </a:lnTo>
                    <a:lnTo>
                      <a:pt x="0" y="1642359"/>
                    </a:lnTo>
                    <a:close/>
                  </a:path>
                </a:pathLst>
              </a:custGeom>
              <a:blipFill>
                <a:blip r:embed="rId3"/>
                <a:stretch>
                  <a:fillRect l="0" t="-333" r="0" b="-333"/>
                </a:stretch>
              </a:blipFill>
            </p:spPr>
          </p:sp>
        </p:grpSp>
        <p:grpSp>
          <p:nvGrpSpPr>
            <p:cNvPr name="Group 7" id="7"/>
            <p:cNvGrpSpPr/>
            <p:nvPr/>
          </p:nvGrpSpPr>
          <p:grpSpPr>
            <a:xfrm rot="0">
              <a:off x="9194800" y="0"/>
              <a:ext cx="4168191" cy="6357938"/>
              <a:chOff x="0" y="0"/>
              <a:chExt cx="1076712" cy="1642359"/>
            </a:xfrm>
          </p:grpSpPr>
          <p:sp>
            <p:nvSpPr>
              <p:cNvPr name="Freeform 8" id="8"/>
              <p:cNvSpPr/>
              <p:nvPr/>
            </p:nvSpPr>
            <p:spPr>
              <a:xfrm flipH="false" flipV="false" rot="0">
                <a:off x="0" y="0"/>
                <a:ext cx="1076712" cy="1642359"/>
              </a:xfrm>
              <a:custGeom>
                <a:avLst/>
                <a:gdLst/>
                <a:ahLst/>
                <a:cxnLst/>
                <a:rect r="r" b="b" t="t" l="l"/>
                <a:pathLst>
                  <a:path h="1642359" w="1076712">
                    <a:moveTo>
                      <a:pt x="0" y="0"/>
                    </a:moveTo>
                    <a:lnTo>
                      <a:pt x="1076712" y="0"/>
                    </a:lnTo>
                    <a:lnTo>
                      <a:pt x="1076712" y="1642359"/>
                    </a:lnTo>
                    <a:lnTo>
                      <a:pt x="0" y="1642359"/>
                    </a:lnTo>
                    <a:close/>
                  </a:path>
                </a:pathLst>
              </a:custGeom>
              <a:blipFill>
                <a:blip r:embed="rId4"/>
                <a:stretch>
                  <a:fillRect l="0" t="-333" r="0" b="-333"/>
                </a:stretch>
              </a:blipFill>
            </p:spPr>
          </p:sp>
        </p:grpSp>
        <p:grpSp>
          <p:nvGrpSpPr>
            <p:cNvPr name="Group 9" id="9"/>
            <p:cNvGrpSpPr/>
            <p:nvPr/>
          </p:nvGrpSpPr>
          <p:grpSpPr>
            <a:xfrm rot="0">
              <a:off x="4622554" y="0"/>
              <a:ext cx="4168191" cy="6357938"/>
              <a:chOff x="0" y="0"/>
              <a:chExt cx="1076712" cy="1642359"/>
            </a:xfrm>
          </p:grpSpPr>
          <p:sp>
            <p:nvSpPr>
              <p:cNvPr name="Freeform 10" id="10"/>
              <p:cNvSpPr/>
              <p:nvPr/>
            </p:nvSpPr>
            <p:spPr>
              <a:xfrm flipH="false" flipV="false" rot="0">
                <a:off x="0" y="0"/>
                <a:ext cx="1076712" cy="1642359"/>
              </a:xfrm>
              <a:custGeom>
                <a:avLst/>
                <a:gdLst/>
                <a:ahLst/>
                <a:cxnLst/>
                <a:rect r="r" b="b" t="t" l="l"/>
                <a:pathLst>
                  <a:path h="1642359" w="1076712">
                    <a:moveTo>
                      <a:pt x="0" y="0"/>
                    </a:moveTo>
                    <a:lnTo>
                      <a:pt x="1076712" y="0"/>
                    </a:lnTo>
                    <a:lnTo>
                      <a:pt x="1076712" y="1642359"/>
                    </a:lnTo>
                    <a:lnTo>
                      <a:pt x="0" y="1642359"/>
                    </a:lnTo>
                    <a:close/>
                  </a:path>
                </a:pathLst>
              </a:custGeom>
              <a:blipFill>
                <a:blip r:embed="rId5"/>
                <a:stretch>
                  <a:fillRect l="0" t="-333" r="0" b="-333"/>
                </a:stretch>
              </a:blipFill>
            </p:spPr>
          </p:sp>
        </p:grpSp>
        <p:grpSp>
          <p:nvGrpSpPr>
            <p:cNvPr name="Group 11" id="11"/>
            <p:cNvGrpSpPr/>
            <p:nvPr/>
          </p:nvGrpSpPr>
          <p:grpSpPr>
            <a:xfrm rot="0">
              <a:off x="0" y="0"/>
              <a:ext cx="4168191" cy="6357938"/>
              <a:chOff x="0" y="0"/>
              <a:chExt cx="1076712" cy="1642359"/>
            </a:xfrm>
          </p:grpSpPr>
          <p:sp>
            <p:nvSpPr>
              <p:cNvPr name="Freeform 12" id="12"/>
              <p:cNvSpPr/>
              <p:nvPr/>
            </p:nvSpPr>
            <p:spPr>
              <a:xfrm flipH="false" flipV="false" rot="0">
                <a:off x="0" y="0"/>
                <a:ext cx="1076712" cy="1642359"/>
              </a:xfrm>
              <a:custGeom>
                <a:avLst/>
                <a:gdLst/>
                <a:ahLst/>
                <a:cxnLst/>
                <a:rect r="r" b="b" t="t" l="l"/>
                <a:pathLst>
                  <a:path h="1642359" w="1076712">
                    <a:moveTo>
                      <a:pt x="0" y="0"/>
                    </a:moveTo>
                    <a:lnTo>
                      <a:pt x="1076712" y="0"/>
                    </a:lnTo>
                    <a:lnTo>
                      <a:pt x="1076712" y="1642359"/>
                    </a:lnTo>
                    <a:lnTo>
                      <a:pt x="0" y="1642359"/>
                    </a:lnTo>
                    <a:close/>
                  </a:path>
                </a:pathLst>
              </a:custGeom>
              <a:blipFill>
                <a:blip r:embed="rId6"/>
                <a:stretch>
                  <a:fillRect l="0" t="-333" r="0" b="-333"/>
                </a:stretch>
              </a:blipFill>
            </p:spPr>
          </p:sp>
        </p:grpSp>
        <p:sp>
          <p:nvSpPr>
            <p:cNvPr name="TextBox 13" id="13"/>
            <p:cNvSpPr txBox="true"/>
            <p:nvPr/>
          </p:nvSpPr>
          <p:spPr>
            <a:xfrm rot="0">
              <a:off x="0" y="6648661"/>
              <a:ext cx="3835400" cy="492872"/>
            </a:xfrm>
            <a:prstGeom prst="rect">
              <a:avLst/>
            </a:prstGeom>
          </p:spPr>
          <p:txBody>
            <a:bodyPr anchor="t" rtlCol="false" tIns="0" lIns="0" bIns="0" rIns="0">
              <a:spAutoFit/>
            </a:bodyPr>
            <a:lstStyle/>
            <a:p>
              <a:pPr algn="l" marL="0" indent="0" lvl="0">
                <a:lnSpc>
                  <a:spcPts val="3119"/>
                </a:lnSpc>
                <a:spcBef>
                  <a:spcPct val="0"/>
                </a:spcBef>
              </a:pPr>
              <a:r>
                <a:rPr lang="en-US" sz="2227">
                  <a:solidFill>
                    <a:srgbClr val="F8DCBF"/>
                  </a:solidFill>
                  <a:latin typeface="Radley"/>
                  <a:ea typeface="Radley"/>
                  <a:cs typeface="Radley"/>
                  <a:sym typeface="Radley"/>
                </a:rPr>
                <a:t>Asthma Recovery</a:t>
              </a:r>
            </a:p>
          </p:txBody>
        </p:sp>
        <p:sp>
          <p:nvSpPr>
            <p:cNvPr name="TextBox 14" id="14"/>
            <p:cNvSpPr txBox="true"/>
            <p:nvPr/>
          </p:nvSpPr>
          <p:spPr>
            <a:xfrm rot="0">
              <a:off x="0" y="7373308"/>
              <a:ext cx="3833095" cy="933238"/>
            </a:xfrm>
            <a:prstGeom prst="rect">
              <a:avLst/>
            </a:prstGeom>
          </p:spPr>
          <p:txBody>
            <a:bodyPr anchor="t" rtlCol="false" tIns="0" lIns="0" bIns="0" rIns="0">
              <a:spAutoFit/>
            </a:bodyPr>
            <a:lstStyle/>
            <a:p>
              <a:pPr algn="l" marL="0" indent="0" lvl="0">
                <a:lnSpc>
                  <a:spcPts val="2764"/>
                </a:lnSpc>
                <a:spcBef>
                  <a:spcPct val="0"/>
                </a:spcBef>
              </a:pPr>
              <a:r>
                <a:rPr lang="en-US" b="true" sz="1974" strike="noStrike" u="none">
                  <a:solidFill>
                    <a:srgbClr val="F8DCBF"/>
                  </a:solidFill>
                  <a:latin typeface="Carlito Bold"/>
                  <a:ea typeface="Carlito Bold"/>
                  <a:cs typeface="Carlito Bold"/>
                  <a:sym typeface="Carlito Bold"/>
                </a:rPr>
                <a:t>Process improvement</a:t>
              </a:r>
              <a:r>
                <a:rPr lang="en-US" sz="1974" strike="noStrike" u="none">
                  <a:solidFill>
                    <a:srgbClr val="F8DCBF"/>
                  </a:solidFill>
                  <a:latin typeface="Carlito"/>
                  <a:ea typeface="Carlito"/>
                  <a:cs typeface="Carlito"/>
                  <a:sym typeface="Carlito"/>
                </a:rPr>
                <a:t> needed for better outcomes</a:t>
              </a:r>
            </a:p>
          </p:txBody>
        </p:sp>
        <p:sp>
          <p:nvSpPr>
            <p:cNvPr name="TextBox 15" id="15"/>
            <p:cNvSpPr txBox="true"/>
            <p:nvPr/>
          </p:nvSpPr>
          <p:spPr>
            <a:xfrm rot="0">
              <a:off x="4622554" y="6648661"/>
              <a:ext cx="3835400" cy="492872"/>
            </a:xfrm>
            <a:prstGeom prst="rect">
              <a:avLst/>
            </a:prstGeom>
          </p:spPr>
          <p:txBody>
            <a:bodyPr anchor="t" rtlCol="false" tIns="0" lIns="0" bIns="0" rIns="0">
              <a:spAutoFit/>
            </a:bodyPr>
            <a:lstStyle/>
            <a:p>
              <a:pPr algn="l" marL="0" indent="0" lvl="0">
                <a:lnSpc>
                  <a:spcPts val="3119"/>
                </a:lnSpc>
                <a:spcBef>
                  <a:spcPct val="0"/>
                </a:spcBef>
              </a:pPr>
              <a:r>
                <a:rPr lang="en-US" sz="2227">
                  <a:solidFill>
                    <a:srgbClr val="F8DCBF"/>
                  </a:solidFill>
                  <a:latin typeface="Radley"/>
                  <a:ea typeface="Radley"/>
                  <a:cs typeface="Radley"/>
                  <a:sym typeface="Radley"/>
                </a:rPr>
                <a:t>Covid-19 Costs</a:t>
              </a:r>
            </a:p>
          </p:txBody>
        </p:sp>
        <p:sp>
          <p:nvSpPr>
            <p:cNvPr name="TextBox 16" id="16"/>
            <p:cNvSpPr txBox="true"/>
            <p:nvPr/>
          </p:nvSpPr>
          <p:spPr>
            <a:xfrm rot="0">
              <a:off x="4622554" y="7373308"/>
              <a:ext cx="3835400" cy="933238"/>
            </a:xfrm>
            <a:prstGeom prst="rect">
              <a:avLst/>
            </a:prstGeom>
          </p:spPr>
          <p:txBody>
            <a:bodyPr anchor="t" rtlCol="false" tIns="0" lIns="0" bIns="0" rIns="0">
              <a:spAutoFit/>
            </a:bodyPr>
            <a:lstStyle/>
            <a:p>
              <a:pPr algn="l" marL="0" indent="0" lvl="0">
                <a:lnSpc>
                  <a:spcPts val="2764"/>
                </a:lnSpc>
                <a:spcBef>
                  <a:spcPct val="0"/>
                </a:spcBef>
              </a:pPr>
              <a:r>
                <a:rPr lang="en-US" b="true" sz="1974" strike="noStrike" u="none">
                  <a:solidFill>
                    <a:srgbClr val="F8DCBF"/>
                  </a:solidFill>
                  <a:latin typeface="Carlito Bold"/>
                  <a:ea typeface="Carlito Bold"/>
                  <a:cs typeface="Carlito Bold"/>
                  <a:sym typeface="Carlito Bold"/>
                </a:rPr>
                <a:t>Resource utilization review</a:t>
              </a:r>
              <a:r>
                <a:rPr lang="en-US" sz="1974" strike="noStrike" u="none">
                  <a:solidFill>
                    <a:srgbClr val="F8DCBF"/>
                  </a:solidFill>
                  <a:latin typeface="Carlito"/>
                  <a:ea typeface="Carlito"/>
                  <a:cs typeface="Carlito"/>
                  <a:sym typeface="Carlito"/>
                </a:rPr>
                <a:t> is essential</a:t>
              </a:r>
            </a:p>
          </p:txBody>
        </p:sp>
        <p:sp>
          <p:nvSpPr>
            <p:cNvPr name="TextBox 17" id="17"/>
            <p:cNvSpPr txBox="true"/>
            <p:nvPr/>
          </p:nvSpPr>
          <p:spPr>
            <a:xfrm rot="0">
              <a:off x="9194800" y="6648661"/>
              <a:ext cx="4168191" cy="492872"/>
            </a:xfrm>
            <a:prstGeom prst="rect">
              <a:avLst/>
            </a:prstGeom>
          </p:spPr>
          <p:txBody>
            <a:bodyPr anchor="t" rtlCol="false" tIns="0" lIns="0" bIns="0" rIns="0">
              <a:spAutoFit/>
            </a:bodyPr>
            <a:lstStyle/>
            <a:p>
              <a:pPr algn="l" marL="0" indent="0" lvl="0">
                <a:lnSpc>
                  <a:spcPts val="3119"/>
                </a:lnSpc>
                <a:spcBef>
                  <a:spcPct val="0"/>
                </a:spcBef>
              </a:pPr>
              <a:r>
                <a:rPr lang="en-US" sz="2227">
                  <a:solidFill>
                    <a:srgbClr val="F8DCBF"/>
                  </a:solidFill>
                  <a:latin typeface="Radley"/>
                  <a:ea typeface="Radley"/>
                  <a:cs typeface="Radley"/>
                  <a:sym typeface="Radley"/>
                </a:rPr>
                <a:t>Hypertension Protocols</a:t>
              </a:r>
            </a:p>
          </p:txBody>
        </p:sp>
        <p:sp>
          <p:nvSpPr>
            <p:cNvPr name="TextBox 18" id="18"/>
            <p:cNvSpPr txBox="true"/>
            <p:nvPr/>
          </p:nvSpPr>
          <p:spPr>
            <a:xfrm rot="0">
              <a:off x="13842262" y="6648661"/>
              <a:ext cx="3835400" cy="492872"/>
            </a:xfrm>
            <a:prstGeom prst="rect">
              <a:avLst/>
            </a:prstGeom>
          </p:spPr>
          <p:txBody>
            <a:bodyPr anchor="t" rtlCol="false" tIns="0" lIns="0" bIns="0" rIns="0">
              <a:spAutoFit/>
            </a:bodyPr>
            <a:lstStyle/>
            <a:p>
              <a:pPr algn="l" marL="0" indent="0" lvl="0">
                <a:lnSpc>
                  <a:spcPts val="3119"/>
                </a:lnSpc>
                <a:spcBef>
                  <a:spcPct val="0"/>
                </a:spcBef>
              </a:pPr>
              <a:r>
                <a:rPr lang="en-US" sz="2227">
                  <a:solidFill>
                    <a:srgbClr val="F8DCBF"/>
                  </a:solidFill>
                  <a:latin typeface="Radley"/>
                  <a:ea typeface="Radley"/>
                  <a:cs typeface="Radley"/>
                  <a:sym typeface="Radley"/>
                </a:rPr>
                <a:t>Chronic Care Focus</a:t>
              </a:r>
            </a:p>
          </p:txBody>
        </p:sp>
        <p:sp>
          <p:nvSpPr>
            <p:cNvPr name="TextBox 19" id="19"/>
            <p:cNvSpPr txBox="true"/>
            <p:nvPr/>
          </p:nvSpPr>
          <p:spPr>
            <a:xfrm rot="0">
              <a:off x="13842262" y="7373308"/>
              <a:ext cx="3835400" cy="933238"/>
            </a:xfrm>
            <a:prstGeom prst="rect">
              <a:avLst/>
            </a:prstGeom>
          </p:spPr>
          <p:txBody>
            <a:bodyPr anchor="t" rtlCol="false" tIns="0" lIns="0" bIns="0" rIns="0">
              <a:spAutoFit/>
            </a:bodyPr>
            <a:lstStyle/>
            <a:p>
              <a:pPr algn="l" marL="0" indent="0" lvl="0">
                <a:lnSpc>
                  <a:spcPts val="2764"/>
                </a:lnSpc>
                <a:spcBef>
                  <a:spcPct val="0"/>
                </a:spcBef>
              </a:pPr>
              <a:r>
                <a:rPr lang="en-US" b="true" sz="1974" strike="noStrike" u="none">
                  <a:solidFill>
                    <a:srgbClr val="F8DCBF"/>
                  </a:solidFill>
                  <a:latin typeface="Carlito Bold"/>
                  <a:ea typeface="Carlito Bold"/>
                  <a:cs typeface="Carlito Bold"/>
                  <a:sym typeface="Carlito Bold"/>
                </a:rPr>
                <a:t>Emphasis on prevention</a:t>
              </a:r>
              <a:r>
                <a:rPr lang="en-US" sz="1974" strike="noStrike" u="none">
                  <a:solidFill>
                    <a:srgbClr val="F8DCBF"/>
                  </a:solidFill>
                  <a:latin typeface="Carlito"/>
                  <a:ea typeface="Carlito"/>
                  <a:cs typeface="Carlito"/>
                  <a:sym typeface="Carlito"/>
                </a:rPr>
                <a:t> of age-related issues</a:t>
              </a:r>
            </a:p>
          </p:txBody>
        </p:sp>
        <p:sp>
          <p:nvSpPr>
            <p:cNvPr name="TextBox 20" id="20"/>
            <p:cNvSpPr txBox="true"/>
            <p:nvPr/>
          </p:nvSpPr>
          <p:spPr>
            <a:xfrm rot="0">
              <a:off x="18450509" y="6648661"/>
              <a:ext cx="3835400" cy="492872"/>
            </a:xfrm>
            <a:prstGeom prst="rect">
              <a:avLst/>
            </a:prstGeom>
          </p:spPr>
          <p:txBody>
            <a:bodyPr anchor="t" rtlCol="false" tIns="0" lIns="0" bIns="0" rIns="0">
              <a:spAutoFit/>
            </a:bodyPr>
            <a:lstStyle/>
            <a:p>
              <a:pPr algn="l" marL="0" indent="0" lvl="0">
                <a:lnSpc>
                  <a:spcPts val="3119"/>
                </a:lnSpc>
                <a:spcBef>
                  <a:spcPct val="0"/>
                </a:spcBef>
              </a:pPr>
              <a:r>
                <a:rPr lang="en-US" sz="2227">
                  <a:solidFill>
                    <a:srgbClr val="F8DCBF"/>
                  </a:solidFill>
                  <a:latin typeface="Radley"/>
                  <a:ea typeface="Radley"/>
                  <a:cs typeface="Radley"/>
                  <a:sym typeface="Radley"/>
                </a:rPr>
                <a:t>Volume Decline</a:t>
              </a:r>
            </a:p>
          </p:txBody>
        </p:sp>
        <p:sp>
          <p:nvSpPr>
            <p:cNvPr name="TextBox 21" id="21"/>
            <p:cNvSpPr txBox="true"/>
            <p:nvPr/>
          </p:nvSpPr>
          <p:spPr>
            <a:xfrm rot="0">
              <a:off x="18450509" y="7373308"/>
              <a:ext cx="3835400" cy="933238"/>
            </a:xfrm>
            <a:prstGeom prst="rect">
              <a:avLst/>
            </a:prstGeom>
          </p:spPr>
          <p:txBody>
            <a:bodyPr anchor="t" rtlCol="false" tIns="0" lIns="0" bIns="0" rIns="0">
              <a:spAutoFit/>
            </a:bodyPr>
            <a:lstStyle/>
            <a:p>
              <a:pPr algn="l" marL="0" indent="0" lvl="0">
                <a:lnSpc>
                  <a:spcPts val="2764"/>
                </a:lnSpc>
                <a:spcBef>
                  <a:spcPct val="0"/>
                </a:spcBef>
              </a:pPr>
              <a:r>
                <a:rPr lang="en-US" b="true" sz="1974" strike="noStrike" u="none">
                  <a:solidFill>
                    <a:srgbClr val="F8DCBF"/>
                  </a:solidFill>
                  <a:latin typeface="Carlito Bold"/>
                  <a:ea typeface="Carlito Bold"/>
                  <a:cs typeface="Carlito Bold"/>
                  <a:sym typeface="Carlito Bold"/>
                </a:rPr>
                <a:t>Investigate data</a:t>
              </a:r>
              <a:r>
                <a:rPr lang="en-US" sz="1974" strike="noStrike" u="none">
                  <a:solidFill>
                    <a:srgbClr val="F8DCBF"/>
                  </a:solidFill>
                  <a:latin typeface="Carlito"/>
                  <a:ea typeface="Carlito"/>
                  <a:cs typeface="Carlito"/>
                  <a:sym typeface="Carlito"/>
                </a:rPr>
                <a:t> or demand issues</a:t>
              </a:r>
            </a:p>
          </p:txBody>
        </p:sp>
      </p:grpSp>
      <p:sp>
        <p:nvSpPr>
          <p:cNvPr name="TextBox 22" id="22"/>
          <p:cNvSpPr txBox="true"/>
          <p:nvPr/>
        </p:nvSpPr>
        <p:spPr>
          <a:xfrm rot="0">
            <a:off x="7558088" y="8146415"/>
            <a:ext cx="2876550" cy="721360"/>
          </a:xfrm>
          <a:prstGeom prst="rect">
            <a:avLst/>
          </a:prstGeom>
        </p:spPr>
        <p:txBody>
          <a:bodyPr anchor="t" rtlCol="false" tIns="0" lIns="0" bIns="0" rIns="0">
            <a:spAutoFit/>
          </a:bodyPr>
          <a:lstStyle/>
          <a:p>
            <a:pPr algn="l" marL="0" indent="0" lvl="0">
              <a:lnSpc>
                <a:spcPts val="2764"/>
              </a:lnSpc>
              <a:spcBef>
                <a:spcPct val="0"/>
              </a:spcBef>
            </a:pPr>
            <a:r>
              <a:rPr lang="en-US" b="true" sz="1974" strike="noStrike" u="none">
                <a:solidFill>
                  <a:srgbClr val="F8DCBF"/>
                </a:solidFill>
                <a:latin typeface="Carlito Bold"/>
                <a:ea typeface="Carlito Bold"/>
                <a:cs typeface="Carlito Bold"/>
                <a:sym typeface="Carlito Bold"/>
              </a:rPr>
              <a:t>Replicate best practices</a:t>
            </a:r>
            <a:r>
              <a:rPr lang="en-US" sz="1974" strike="noStrike" u="none">
                <a:solidFill>
                  <a:srgbClr val="F8DCBF"/>
                </a:solidFill>
                <a:latin typeface="Carlito"/>
                <a:ea typeface="Carlito"/>
                <a:cs typeface="Carlito"/>
                <a:sym typeface="Carlito"/>
              </a:rPr>
              <a:t> for success</a:t>
            </a:r>
          </a:p>
        </p:txBody>
      </p:sp>
      <p:sp>
        <p:nvSpPr>
          <p:cNvPr name="TextBox 23" id="23"/>
          <p:cNvSpPr txBox="true"/>
          <p:nvPr/>
        </p:nvSpPr>
        <p:spPr>
          <a:xfrm rot="0">
            <a:off x="671512" y="554989"/>
            <a:ext cx="16954500" cy="1004572"/>
          </a:xfrm>
          <a:prstGeom prst="rect">
            <a:avLst/>
          </a:prstGeom>
        </p:spPr>
        <p:txBody>
          <a:bodyPr anchor="t" rtlCol="false" tIns="0" lIns="0" bIns="0" rIns="0">
            <a:spAutoFit/>
          </a:bodyPr>
          <a:lstStyle/>
          <a:p>
            <a:pPr algn="ctr" marL="0" indent="0" lvl="0">
              <a:lnSpc>
                <a:spcPts val="7840"/>
              </a:lnSpc>
              <a:spcBef>
                <a:spcPct val="0"/>
              </a:spcBef>
            </a:pPr>
            <a:r>
              <a:rPr lang="en-US" sz="7000">
                <a:solidFill>
                  <a:srgbClr val="F8DCBF"/>
                </a:solidFill>
                <a:latin typeface="Radley"/>
                <a:ea typeface="Radley"/>
                <a:cs typeface="Radley"/>
                <a:sym typeface="Radley"/>
              </a:rPr>
              <a:t>Key Insights from the Dashboard</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1F3D"/>
        </a:solidFill>
      </p:bgPr>
    </p:bg>
    <p:spTree>
      <p:nvGrpSpPr>
        <p:cNvPr id="1" name=""/>
        <p:cNvGrpSpPr/>
        <p:nvPr/>
      </p:nvGrpSpPr>
      <p:grpSpPr>
        <a:xfrm>
          <a:off x="0" y="0"/>
          <a:ext cx="0" cy="0"/>
          <a:chOff x="0" y="0"/>
          <a:chExt cx="0" cy="0"/>
        </a:xfrm>
      </p:grpSpPr>
      <p:grpSp>
        <p:nvGrpSpPr>
          <p:cNvPr name="Group 2" id="2"/>
          <p:cNvGrpSpPr/>
          <p:nvPr/>
        </p:nvGrpSpPr>
        <p:grpSpPr>
          <a:xfrm rot="0">
            <a:off x="10429875" y="0"/>
            <a:ext cx="7858125" cy="10287000"/>
            <a:chOff x="0" y="0"/>
            <a:chExt cx="1217429" cy="1593725"/>
          </a:xfrm>
        </p:grpSpPr>
        <p:sp>
          <p:nvSpPr>
            <p:cNvPr name="Freeform 3" id="3"/>
            <p:cNvSpPr/>
            <p:nvPr/>
          </p:nvSpPr>
          <p:spPr>
            <a:xfrm flipH="false" flipV="false" rot="0">
              <a:off x="0" y="0"/>
              <a:ext cx="1217429" cy="1593725"/>
            </a:xfrm>
            <a:custGeom>
              <a:avLst/>
              <a:gdLst/>
              <a:ahLst/>
              <a:cxnLst/>
              <a:rect r="r" b="b" t="t" l="l"/>
              <a:pathLst>
                <a:path h="1593725" w="1217429">
                  <a:moveTo>
                    <a:pt x="0" y="0"/>
                  </a:moveTo>
                  <a:lnTo>
                    <a:pt x="1217429" y="0"/>
                  </a:lnTo>
                  <a:lnTo>
                    <a:pt x="1217429" y="1593725"/>
                  </a:lnTo>
                  <a:lnTo>
                    <a:pt x="0" y="1593725"/>
                  </a:lnTo>
                  <a:close/>
                </a:path>
              </a:pathLst>
            </a:custGeom>
            <a:blipFill>
              <a:blip r:embed="rId2"/>
              <a:stretch>
                <a:fillRect l="0" t="-421" r="0" b="-421"/>
              </a:stretch>
            </a:blipFill>
          </p:spPr>
        </p:sp>
      </p:grpSp>
      <p:grpSp>
        <p:nvGrpSpPr>
          <p:cNvPr name="Group 4" id="4"/>
          <p:cNvGrpSpPr/>
          <p:nvPr/>
        </p:nvGrpSpPr>
        <p:grpSpPr>
          <a:xfrm rot="0">
            <a:off x="666750" y="666755"/>
            <a:ext cx="7230865" cy="5229225"/>
            <a:chOff x="0" y="0"/>
            <a:chExt cx="9641153" cy="6972300"/>
          </a:xfrm>
        </p:grpSpPr>
        <p:sp>
          <p:nvSpPr>
            <p:cNvPr name="TextBox 5" id="5"/>
            <p:cNvSpPr txBox="true"/>
            <p:nvPr/>
          </p:nvSpPr>
          <p:spPr>
            <a:xfrm rot="0">
              <a:off x="26326" y="57150"/>
              <a:ext cx="9614826" cy="1358479"/>
            </a:xfrm>
            <a:prstGeom prst="rect">
              <a:avLst/>
            </a:prstGeom>
          </p:spPr>
          <p:txBody>
            <a:bodyPr anchor="t" rtlCol="false" tIns="0" lIns="0" bIns="0" rIns="0">
              <a:spAutoFit/>
            </a:bodyPr>
            <a:lstStyle/>
            <a:p>
              <a:pPr algn="l" marL="0" indent="0" lvl="0">
                <a:lnSpc>
                  <a:spcPts val="7840"/>
                </a:lnSpc>
                <a:spcBef>
                  <a:spcPct val="0"/>
                </a:spcBef>
              </a:pPr>
              <a:r>
                <a:rPr lang="en-US" sz="7000" i="true">
                  <a:solidFill>
                    <a:srgbClr val="F8DCBF"/>
                  </a:solidFill>
                  <a:latin typeface="Radley Italics"/>
                  <a:ea typeface="Radley Italics"/>
                  <a:cs typeface="Radley Italics"/>
                  <a:sym typeface="Radley Italics"/>
                </a:rPr>
                <a:t>Recommendations</a:t>
              </a:r>
            </a:p>
          </p:txBody>
        </p:sp>
        <p:sp>
          <p:nvSpPr>
            <p:cNvPr name="TextBox 6" id="6"/>
            <p:cNvSpPr txBox="true"/>
            <p:nvPr/>
          </p:nvSpPr>
          <p:spPr>
            <a:xfrm rot="0">
              <a:off x="26326" y="2387600"/>
              <a:ext cx="9614826" cy="1397000"/>
            </a:xfrm>
            <a:prstGeom prst="rect">
              <a:avLst/>
            </a:prstGeom>
          </p:spPr>
          <p:txBody>
            <a:bodyPr anchor="t" rtlCol="false" tIns="0" lIns="0" bIns="0" rIns="0">
              <a:spAutoFit/>
            </a:bodyPr>
            <a:lstStyle/>
            <a:p>
              <a:pPr algn="l" marL="0" indent="0" lvl="0">
                <a:lnSpc>
                  <a:spcPts val="4199"/>
                </a:lnSpc>
                <a:spcBef>
                  <a:spcPct val="0"/>
                </a:spcBef>
              </a:pPr>
              <a:r>
                <a:rPr lang="en-US" sz="3499" u="none">
                  <a:solidFill>
                    <a:srgbClr val="F8DCBF"/>
                  </a:solidFill>
                  <a:latin typeface="Radley"/>
                  <a:ea typeface="Radley"/>
                  <a:cs typeface="Radley"/>
                  <a:sym typeface="Radley"/>
                </a:rPr>
                <a:t>Actionable Steps for Improving Clinical and Operational Outcomes</a:t>
              </a:r>
            </a:p>
          </p:txBody>
        </p:sp>
        <p:sp>
          <p:nvSpPr>
            <p:cNvPr name="AutoShape 7" id="7"/>
            <p:cNvSpPr/>
            <p:nvPr/>
          </p:nvSpPr>
          <p:spPr>
            <a:xfrm>
              <a:off x="0" y="1901614"/>
              <a:ext cx="9614826" cy="0"/>
            </a:xfrm>
            <a:prstGeom prst="line">
              <a:avLst/>
            </a:prstGeom>
            <a:ln cap="flat" w="25400">
              <a:solidFill>
                <a:srgbClr val="F8DCBF"/>
              </a:solidFill>
              <a:prstDash val="solid"/>
              <a:headEnd type="none" len="sm" w="sm"/>
              <a:tailEnd type="none" len="sm" w="sm"/>
            </a:ln>
          </p:spPr>
        </p:sp>
        <p:sp>
          <p:nvSpPr>
            <p:cNvPr name="TextBox 8" id="8"/>
            <p:cNvSpPr txBox="true"/>
            <p:nvPr/>
          </p:nvSpPr>
          <p:spPr>
            <a:xfrm rot="0">
              <a:off x="26326" y="4410075"/>
              <a:ext cx="9588500" cy="2562225"/>
            </a:xfrm>
            <a:prstGeom prst="rect">
              <a:avLst/>
            </a:prstGeom>
          </p:spPr>
          <p:txBody>
            <a:bodyPr anchor="t" rtlCol="false" tIns="0" lIns="0" bIns="0" rIns="0">
              <a:spAutoFit/>
            </a:bodyPr>
            <a:lstStyle/>
            <a:p>
              <a:pPr algn="l" marL="0" indent="0" lvl="0">
                <a:lnSpc>
                  <a:spcPts val="2520"/>
                </a:lnSpc>
              </a:pPr>
              <a:r>
                <a:rPr lang="en-US" sz="2100">
                  <a:solidFill>
                    <a:srgbClr val="F8DCBF"/>
                  </a:solidFill>
                  <a:latin typeface="Carlito"/>
                  <a:ea typeface="Carlito"/>
                  <a:cs typeface="Carlito"/>
                  <a:sym typeface="Carlito"/>
                </a:rPr>
                <a:t>To enhance hospital performance, a </a:t>
              </a:r>
              <a:r>
                <a:rPr lang="en-US" b="true" sz="2100">
                  <a:solidFill>
                    <a:srgbClr val="F8DCBF"/>
                  </a:solidFill>
                  <a:latin typeface="Carlito Bold"/>
                  <a:ea typeface="Carlito Bold"/>
                  <a:cs typeface="Carlito Bold"/>
                  <a:sym typeface="Carlito Bold"/>
                </a:rPr>
                <a:t>focus on clinical pathways</a:t>
              </a:r>
              <a:r>
                <a:rPr lang="en-US" sz="2100">
                  <a:solidFill>
                    <a:srgbClr val="F8DCBF"/>
                  </a:solidFill>
                  <a:latin typeface="Carlito"/>
                  <a:ea typeface="Carlito"/>
                  <a:cs typeface="Carlito"/>
                  <a:sym typeface="Carlito"/>
                </a:rPr>
                <a:t> for asthma and Covid-19 is essential. Standardizing care processes will improve outcomes, while analyzing cost drivers can help allocate resources efficiently. Improving data quality will also ensure better decision-making and operational effectiveness across the board, ultimately leading to enhanced patient care.</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1F3D"/>
        </a:solidFill>
      </p:bgPr>
    </p:bg>
    <p:spTree>
      <p:nvGrpSpPr>
        <p:cNvPr id="1" name=""/>
        <p:cNvGrpSpPr/>
        <p:nvPr/>
      </p:nvGrpSpPr>
      <p:grpSpPr>
        <a:xfrm>
          <a:off x="0" y="0"/>
          <a:ext cx="0" cy="0"/>
          <a:chOff x="0" y="0"/>
          <a:chExt cx="0" cy="0"/>
        </a:xfrm>
      </p:grpSpPr>
      <p:grpSp>
        <p:nvGrpSpPr>
          <p:cNvPr name="Group 2" id="2"/>
          <p:cNvGrpSpPr/>
          <p:nvPr/>
        </p:nvGrpSpPr>
        <p:grpSpPr>
          <a:xfrm rot="0">
            <a:off x="10429875" y="0"/>
            <a:ext cx="7858125" cy="10287000"/>
            <a:chOff x="0" y="0"/>
            <a:chExt cx="1217429" cy="1593725"/>
          </a:xfrm>
        </p:grpSpPr>
        <p:sp>
          <p:nvSpPr>
            <p:cNvPr name="Freeform 3" id="3"/>
            <p:cNvSpPr/>
            <p:nvPr/>
          </p:nvSpPr>
          <p:spPr>
            <a:xfrm flipH="false" flipV="false" rot="0">
              <a:off x="0" y="0"/>
              <a:ext cx="1217429" cy="1593725"/>
            </a:xfrm>
            <a:custGeom>
              <a:avLst/>
              <a:gdLst/>
              <a:ahLst/>
              <a:cxnLst/>
              <a:rect r="r" b="b" t="t" l="l"/>
              <a:pathLst>
                <a:path h="1593725" w="1217429">
                  <a:moveTo>
                    <a:pt x="0" y="0"/>
                  </a:moveTo>
                  <a:lnTo>
                    <a:pt x="1217429" y="0"/>
                  </a:lnTo>
                  <a:lnTo>
                    <a:pt x="1217429" y="1593725"/>
                  </a:lnTo>
                  <a:lnTo>
                    <a:pt x="0" y="1593725"/>
                  </a:lnTo>
                  <a:close/>
                </a:path>
              </a:pathLst>
            </a:custGeom>
            <a:blipFill>
              <a:blip r:embed="rId2"/>
              <a:stretch>
                <a:fillRect l="0" t="-421" r="0" b="-421"/>
              </a:stretch>
            </a:blipFill>
          </p:spPr>
        </p:sp>
      </p:grpSp>
      <p:grpSp>
        <p:nvGrpSpPr>
          <p:cNvPr name="Group 4" id="4"/>
          <p:cNvGrpSpPr/>
          <p:nvPr/>
        </p:nvGrpSpPr>
        <p:grpSpPr>
          <a:xfrm rot="0">
            <a:off x="666750" y="666755"/>
            <a:ext cx="7230865" cy="6743700"/>
            <a:chOff x="0" y="0"/>
            <a:chExt cx="9641153" cy="8991600"/>
          </a:xfrm>
        </p:grpSpPr>
        <p:sp>
          <p:nvSpPr>
            <p:cNvPr name="TextBox 5" id="5"/>
            <p:cNvSpPr txBox="true"/>
            <p:nvPr/>
          </p:nvSpPr>
          <p:spPr>
            <a:xfrm rot="0">
              <a:off x="26326" y="57150"/>
              <a:ext cx="9614826" cy="2679279"/>
            </a:xfrm>
            <a:prstGeom prst="rect">
              <a:avLst/>
            </a:prstGeom>
          </p:spPr>
          <p:txBody>
            <a:bodyPr anchor="t" rtlCol="false" tIns="0" lIns="0" bIns="0" rIns="0">
              <a:spAutoFit/>
            </a:bodyPr>
            <a:lstStyle/>
            <a:p>
              <a:pPr algn="l" marL="0" indent="0" lvl="0">
                <a:lnSpc>
                  <a:spcPts val="7840"/>
                </a:lnSpc>
                <a:spcBef>
                  <a:spcPct val="0"/>
                </a:spcBef>
              </a:pPr>
              <a:r>
                <a:rPr lang="en-US" sz="7000" i="true">
                  <a:solidFill>
                    <a:srgbClr val="F8DCBF"/>
                  </a:solidFill>
                  <a:latin typeface="Radley Italics"/>
                  <a:ea typeface="Radley Italics"/>
                  <a:cs typeface="Radley Italics"/>
                  <a:sym typeface="Radley Italics"/>
                </a:rPr>
                <a:t>Summary of Insights</a:t>
              </a:r>
            </a:p>
          </p:txBody>
        </p:sp>
        <p:sp>
          <p:nvSpPr>
            <p:cNvPr name="TextBox 6" id="6"/>
            <p:cNvSpPr txBox="true"/>
            <p:nvPr/>
          </p:nvSpPr>
          <p:spPr>
            <a:xfrm rot="0">
              <a:off x="26326" y="3708400"/>
              <a:ext cx="9614826" cy="2095500"/>
            </a:xfrm>
            <a:prstGeom prst="rect">
              <a:avLst/>
            </a:prstGeom>
          </p:spPr>
          <p:txBody>
            <a:bodyPr anchor="t" rtlCol="false" tIns="0" lIns="0" bIns="0" rIns="0">
              <a:spAutoFit/>
            </a:bodyPr>
            <a:lstStyle/>
            <a:p>
              <a:pPr algn="l" marL="0" indent="0" lvl="0">
                <a:lnSpc>
                  <a:spcPts val="4199"/>
                </a:lnSpc>
                <a:spcBef>
                  <a:spcPct val="0"/>
                </a:spcBef>
              </a:pPr>
              <a:r>
                <a:rPr lang="en-US" sz="3499" u="none">
                  <a:solidFill>
                    <a:srgbClr val="F8DCBF"/>
                  </a:solidFill>
                  <a:latin typeface="Radley"/>
                  <a:ea typeface="Radley"/>
                  <a:cs typeface="Radley"/>
                  <a:sym typeface="Radley"/>
                </a:rPr>
                <a:t>Key findings and opportunities to enhance hospital performance and efficiency</a:t>
              </a:r>
            </a:p>
          </p:txBody>
        </p:sp>
        <p:sp>
          <p:nvSpPr>
            <p:cNvPr name="AutoShape 7" id="7"/>
            <p:cNvSpPr/>
            <p:nvPr/>
          </p:nvSpPr>
          <p:spPr>
            <a:xfrm>
              <a:off x="0" y="3222414"/>
              <a:ext cx="9614826" cy="0"/>
            </a:xfrm>
            <a:prstGeom prst="line">
              <a:avLst/>
            </a:prstGeom>
            <a:ln cap="flat" w="25400">
              <a:solidFill>
                <a:srgbClr val="F8DCBF"/>
              </a:solidFill>
              <a:prstDash val="solid"/>
              <a:headEnd type="none" len="sm" w="sm"/>
              <a:tailEnd type="none" len="sm" w="sm"/>
            </a:ln>
          </p:spPr>
        </p:sp>
        <p:sp>
          <p:nvSpPr>
            <p:cNvPr name="TextBox 8" id="8"/>
            <p:cNvSpPr txBox="true"/>
            <p:nvPr/>
          </p:nvSpPr>
          <p:spPr>
            <a:xfrm rot="0">
              <a:off x="26326" y="6429375"/>
              <a:ext cx="9588500" cy="2562225"/>
            </a:xfrm>
            <a:prstGeom prst="rect">
              <a:avLst/>
            </a:prstGeom>
          </p:spPr>
          <p:txBody>
            <a:bodyPr anchor="t" rtlCol="false" tIns="0" lIns="0" bIns="0" rIns="0">
              <a:spAutoFit/>
            </a:bodyPr>
            <a:lstStyle/>
            <a:p>
              <a:pPr algn="l" marL="0" indent="0" lvl="0">
                <a:lnSpc>
                  <a:spcPts val="2520"/>
                </a:lnSpc>
              </a:pPr>
              <a:r>
                <a:rPr lang="en-US" sz="2100">
                  <a:solidFill>
                    <a:srgbClr val="F8DCBF"/>
                  </a:solidFill>
                  <a:latin typeface="Carlito"/>
                  <a:ea typeface="Carlito"/>
                  <a:cs typeface="Carlito"/>
                  <a:sym typeface="Carlito"/>
                </a:rPr>
                <a:t>The dashboard reveals a </a:t>
              </a:r>
              <a:r>
                <a:rPr lang="en-US" b="true" sz="2100">
                  <a:solidFill>
                    <a:srgbClr val="F8DCBF"/>
                  </a:solidFill>
                  <a:latin typeface="Carlito Bold"/>
                  <a:ea typeface="Carlito Bold"/>
                  <a:cs typeface="Carlito Bold"/>
                  <a:sym typeface="Carlito Bold"/>
                </a:rPr>
                <a:t>moderately positive</a:t>
              </a:r>
              <a:r>
                <a:rPr lang="en-US" sz="2100">
                  <a:solidFill>
                    <a:srgbClr val="F8DCBF"/>
                  </a:solidFill>
                  <a:latin typeface="Carlito"/>
                  <a:ea typeface="Carlito"/>
                  <a:cs typeface="Carlito"/>
                  <a:sym typeface="Carlito"/>
                </a:rPr>
                <a:t> hospital performance overall, yet significant disparities exist across various diagnoses. There are clear opportunities to optimize care, particularly for asthma and Covid-19 patients. Leveraging effective hypertension practices and focusing on chronic care can enhance patient outcomes while maintaining cost efficiency.</a:t>
              </a:r>
            </a:p>
          </p:txBody>
        </p:sp>
      </p:grpSp>
    </p:spTree>
  </p:cSld>
  <p:clrMapOvr>
    <a:masterClrMapping/>
  </p:clrMapOvr>
</p:sld>
</file>

<file path=ppt/slides/slide12.xml><?xml version="1.0" encoding="utf-8"?>
<p:sld xmlns:p="http://schemas.openxmlformats.org/presentationml/2006/main" xmlns:a="http://schemas.openxmlformats.org/drawingml/2006/main">
  <p:cSld>
    <p:bg>
      <p:bgPr>
        <a:solidFill>
          <a:srgbClr val="001F3D"/>
        </a:solidFill>
      </p:bgPr>
    </p:bg>
    <p:spTree>
      <p:nvGrpSpPr>
        <p:cNvPr id="1" name=""/>
        <p:cNvGrpSpPr/>
        <p:nvPr/>
      </p:nvGrpSpPr>
      <p:grpSpPr>
        <a:xfrm>
          <a:off x="0" y="0"/>
          <a:ext cx="0" cy="0"/>
          <a:chOff x="0" y="0"/>
          <a:chExt cx="0" cy="0"/>
        </a:xfrm>
      </p:grpSpPr>
      <p:grpSp>
        <p:nvGrpSpPr>
          <p:cNvPr name="Group 2" id="2"/>
          <p:cNvGrpSpPr/>
          <p:nvPr/>
        </p:nvGrpSpPr>
        <p:grpSpPr>
          <a:xfrm rot="0">
            <a:off x="2671762" y="4245610"/>
            <a:ext cx="12944475" cy="1795780"/>
            <a:chOff x="0" y="0"/>
            <a:chExt cx="17259300" cy="2394374"/>
          </a:xfrm>
        </p:grpSpPr>
        <p:sp>
          <p:nvSpPr>
            <p:cNvPr name="TextBox 3" id="3"/>
            <p:cNvSpPr txBox="true"/>
            <p:nvPr/>
          </p:nvSpPr>
          <p:spPr>
            <a:xfrm rot="0">
              <a:off x="0" y="142875"/>
              <a:ext cx="17259300" cy="1275292"/>
            </a:xfrm>
            <a:prstGeom prst="rect">
              <a:avLst/>
            </a:prstGeom>
          </p:spPr>
          <p:txBody>
            <a:bodyPr anchor="t" rtlCol="false" tIns="0" lIns="0" bIns="0" rIns="0">
              <a:spAutoFit/>
            </a:bodyPr>
            <a:lstStyle/>
            <a:p>
              <a:pPr algn="ctr" marL="0" indent="0" lvl="0">
                <a:lnSpc>
                  <a:spcPts val="6999"/>
                </a:lnSpc>
              </a:pPr>
              <a:r>
                <a:rPr lang="en-US" sz="6999">
                  <a:solidFill>
                    <a:srgbClr val="F8DCBF"/>
                  </a:solidFill>
                  <a:latin typeface="Radley"/>
                  <a:ea typeface="Radley"/>
                  <a:cs typeface="Radley"/>
                  <a:sym typeface="Radley"/>
                </a:rPr>
                <a:t>Thank You</a:t>
              </a:r>
            </a:p>
          </p:txBody>
        </p:sp>
        <p:sp>
          <p:nvSpPr>
            <p:cNvPr name="TextBox 4" id="4"/>
            <p:cNvSpPr txBox="true"/>
            <p:nvPr/>
          </p:nvSpPr>
          <p:spPr>
            <a:xfrm rot="0">
              <a:off x="0" y="1771650"/>
              <a:ext cx="17259300" cy="622724"/>
            </a:xfrm>
            <a:prstGeom prst="rect">
              <a:avLst/>
            </a:prstGeom>
          </p:spPr>
          <p:txBody>
            <a:bodyPr anchor="t" rtlCol="false" tIns="0" lIns="0" bIns="0" rIns="0">
              <a:spAutoFit/>
            </a:bodyPr>
            <a:lstStyle/>
            <a:p>
              <a:pPr algn="ctr" marL="0" indent="0" lvl="0">
                <a:lnSpc>
                  <a:spcPts val="3919"/>
                </a:lnSpc>
                <a:spcBef>
                  <a:spcPct val="0"/>
                </a:spcBef>
              </a:pPr>
              <a:r>
                <a:rPr lang="en-US" sz="2799" strike="noStrike" u="none">
                  <a:solidFill>
                    <a:srgbClr val="F8DCBF"/>
                  </a:solidFill>
                  <a:latin typeface="Radley"/>
                  <a:ea typeface="Radley"/>
                  <a:cs typeface="Radley"/>
                  <a:sym typeface="Radley"/>
                </a:rPr>
                <a:t>We appreciate your attention and engagement today</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Hospital Insight Dashboard</dc:description>
  <dc:identifier>DAHDK9lWe-A</dc:identifier>
  <dcterms:modified xsi:type="dcterms:W3CDTF">2011-08-01T06:04:30Z</dcterms:modified>
  <cp:revision>1</cp:revision>
  <dc:title>Presentation - Hospital Insight Dashboard</dc:title>
</cp:coreProperties>
</file>